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00" r:id="rId1"/>
  </p:sldMasterIdLst>
  <p:notesMasterIdLst>
    <p:notesMasterId r:id="rId21"/>
  </p:notesMasterIdLst>
  <p:sldIdLst>
    <p:sldId id="256" r:id="rId2"/>
    <p:sldId id="289" r:id="rId3"/>
    <p:sldId id="272" r:id="rId4"/>
    <p:sldId id="280" r:id="rId5"/>
    <p:sldId id="273" r:id="rId6"/>
    <p:sldId id="274" r:id="rId7"/>
    <p:sldId id="292" r:id="rId8"/>
    <p:sldId id="264" r:id="rId9"/>
    <p:sldId id="283" r:id="rId10"/>
    <p:sldId id="316" r:id="rId11"/>
    <p:sldId id="331" r:id="rId12"/>
    <p:sldId id="325" r:id="rId13"/>
    <p:sldId id="320" r:id="rId14"/>
    <p:sldId id="326" r:id="rId15"/>
    <p:sldId id="328" r:id="rId16"/>
    <p:sldId id="327" r:id="rId17"/>
    <p:sldId id="329" r:id="rId18"/>
    <p:sldId id="330" r:id="rId19"/>
    <p:sldId id="275" r:id="rId2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8799B23B-EC83-4686-B30A-512413B5E67A}" styleName="Light Style 3 - Accent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4107"/>
    <p:restoredTop sz="72583"/>
  </p:normalViewPr>
  <p:slideViewPr>
    <p:cSldViewPr snapToGrid="0">
      <p:cViewPr varScale="1">
        <p:scale>
          <a:sx n="85" d="100"/>
          <a:sy n="85" d="100"/>
        </p:scale>
        <p:origin x="1072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90BF7D06-F8B2-4081-B591-87D8CAA68173}" type="doc">
      <dgm:prSet loTypeId="urn:microsoft.com/office/officeart/2005/8/layout/hierarchy1" loCatId="hierarchy" qsTypeId="urn:microsoft.com/office/officeart/2005/8/quickstyle/simple1" qsCatId="simple" csTypeId="urn:microsoft.com/office/officeart/2005/8/colors/accent1_2" csCatId="accent1"/>
      <dgm:spPr/>
      <dgm:t>
        <a:bodyPr/>
        <a:lstStyle/>
        <a:p>
          <a:endParaRPr lang="en-US"/>
        </a:p>
      </dgm:t>
    </dgm:pt>
    <dgm:pt modelId="{DE6000B1-EC6C-455F-99B2-F6D9645094B4}">
      <dgm:prSet/>
      <dgm:spPr/>
      <dgm:t>
        <a:bodyPr/>
        <a:lstStyle/>
        <a:p>
          <a:r>
            <a:rPr lang="en-US"/>
            <a:t>Recurrent Models</a:t>
          </a:r>
        </a:p>
      </dgm:t>
    </dgm:pt>
    <dgm:pt modelId="{532FFE6C-C74A-42E5-AFA9-4F81E7714EA1}" type="parTrans" cxnId="{85858216-9FF9-4C6E-BDB3-3AEE4C7F6FBA}">
      <dgm:prSet/>
      <dgm:spPr/>
      <dgm:t>
        <a:bodyPr/>
        <a:lstStyle/>
        <a:p>
          <a:endParaRPr lang="en-US"/>
        </a:p>
      </dgm:t>
    </dgm:pt>
    <dgm:pt modelId="{51839B9E-A199-4A74-B5BD-C08FCDB69B67}" type="sibTrans" cxnId="{85858216-9FF9-4C6E-BDB3-3AEE4C7F6FBA}">
      <dgm:prSet/>
      <dgm:spPr/>
      <dgm:t>
        <a:bodyPr/>
        <a:lstStyle/>
        <a:p>
          <a:endParaRPr lang="en-US"/>
        </a:p>
      </dgm:t>
    </dgm:pt>
    <dgm:pt modelId="{F7E5E448-2A35-4EB1-AC6E-C491873DE84F}">
      <dgm:prSet/>
      <dgm:spPr/>
      <dgm:t>
        <a:bodyPr/>
        <a:lstStyle/>
        <a:p>
          <a:r>
            <a:rPr lang="en-US"/>
            <a:t>Transformers</a:t>
          </a:r>
        </a:p>
      </dgm:t>
    </dgm:pt>
    <dgm:pt modelId="{4398B43C-3211-4D7E-B458-2F0B6D3BA336}" type="parTrans" cxnId="{368B752A-503C-4732-808F-91464314C1C6}">
      <dgm:prSet/>
      <dgm:spPr/>
      <dgm:t>
        <a:bodyPr/>
        <a:lstStyle/>
        <a:p>
          <a:endParaRPr lang="en-US"/>
        </a:p>
      </dgm:t>
    </dgm:pt>
    <dgm:pt modelId="{E9794967-F0D4-4946-AF3C-0090F0657AD9}" type="sibTrans" cxnId="{368B752A-503C-4732-808F-91464314C1C6}">
      <dgm:prSet/>
      <dgm:spPr/>
      <dgm:t>
        <a:bodyPr/>
        <a:lstStyle/>
        <a:p>
          <a:endParaRPr lang="en-US"/>
        </a:p>
      </dgm:t>
    </dgm:pt>
    <dgm:pt modelId="{B96F31C1-A255-6145-A84F-3EA754F2C681}" type="pres">
      <dgm:prSet presAssocID="{90BF7D06-F8B2-4081-B591-87D8CAA68173}" presName="hierChild1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5681643F-8980-4449-A55A-ECC8A807EFDE}" type="pres">
      <dgm:prSet presAssocID="{DE6000B1-EC6C-455F-99B2-F6D9645094B4}" presName="hierRoot1" presStyleCnt="0"/>
      <dgm:spPr/>
    </dgm:pt>
    <dgm:pt modelId="{934D370F-39C4-0C4B-9891-3D224C281F14}" type="pres">
      <dgm:prSet presAssocID="{DE6000B1-EC6C-455F-99B2-F6D9645094B4}" presName="composite" presStyleCnt="0"/>
      <dgm:spPr/>
    </dgm:pt>
    <dgm:pt modelId="{724E1D0B-A7BB-D647-A87B-5D9D1400BE70}" type="pres">
      <dgm:prSet presAssocID="{DE6000B1-EC6C-455F-99B2-F6D9645094B4}" presName="background" presStyleLbl="node0" presStyleIdx="0" presStyleCnt="2"/>
      <dgm:spPr/>
    </dgm:pt>
    <dgm:pt modelId="{670B8905-DE3D-2141-A537-D19347797774}" type="pres">
      <dgm:prSet presAssocID="{DE6000B1-EC6C-455F-99B2-F6D9645094B4}" presName="text" presStyleLbl="fgAcc0" presStyleIdx="0" presStyleCnt="2">
        <dgm:presLayoutVars>
          <dgm:chPref val="3"/>
        </dgm:presLayoutVars>
      </dgm:prSet>
      <dgm:spPr/>
    </dgm:pt>
    <dgm:pt modelId="{598C07CD-AAA8-0641-B1EF-6BCA9C086382}" type="pres">
      <dgm:prSet presAssocID="{DE6000B1-EC6C-455F-99B2-F6D9645094B4}" presName="hierChild2" presStyleCnt="0"/>
      <dgm:spPr/>
    </dgm:pt>
    <dgm:pt modelId="{C6021572-A1FE-3243-8FD1-0F2FE3175FA8}" type="pres">
      <dgm:prSet presAssocID="{F7E5E448-2A35-4EB1-AC6E-C491873DE84F}" presName="hierRoot1" presStyleCnt="0"/>
      <dgm:spPr/>
    </dgm:pt>
    <dgm:pt modelId="{BA7EBE04-96D4-AA45-B28B-4A57F0D6655E}" type="pres">
      <dgm:prSet presAssocID="{F7E5E448-2A35-4EB1-AC6E-C491873DE84F}" presName="composite" presStyleCnt="0"/>
      <dgm:spPr/>
    </dgm:pt>
    <dgm:pt modelId="{E2E521B6-28CB-9E4A-99A1-1F7C41E841A5}" type="pres">
      <dgm:prSet presAssocID="{F7E5E448-2A35-4EB1-AC6E-C491873DE84F}" presName="background" presStyleLbl="node0" presStyleIdx="1" presStyleCnt="2"/>
      <dgm:spPr/>
    </dgm:pt>
    <dgm:pt modelId="{01D3D384-201B-5A4D-AA13-C8B68FE9B9D1}" type="pres">
      <dgm:prSet presAssocID="{F7E5E448-2A35-4EB1-AC6E-C491873DE84F}" presName="text" presStyleLbl="fgAcc0" presStyleIdx="1" presStyleCnt="2">
        <dgm:presLayoutVars>
          <dgm:chPref val="3"/>
        </dgm:presLayoutVars>
      </dgm:prSet>
      <dgm:spPr/>
    </dgm:pt>
    <dgm:pt modelId="{2DDB2CA3-AFF3-5B44-9A6D-0EAEEBB2B457}" type="pres">
      <dgm:prSet presAssocID="{F7E5E448-2A35-4EB1-AC6E-C491873DE84F}" presName="hierChild2" presStyleCnt="0"/>
      <dgm:spPr/>
    </dgm:pt>
  </dgm:ptLst>
  <dgm:cxnLst>
    <dgm:cxn modelId="{85858216-9FF9-4C6E-BDB3-3AEE4C7F6FBA}" srcId="{90BF7D06-F8B2-4081-B591-87D8CAA68173}" destId="{DE6000B1-EC6C-455F-99B2-F6D9645094B4}" srcOrd="0" destOrd="0" parTransId="{532FFE6C-C74A-42E5-AFA9-4F81E7714EA1}" sibTransId="{51839B9E-A199-4A74-B5BD-C08FCDB69B67}"/>
    <dgm:cxn modelId="{368B752A-503C-4732-808F-91464314C1C6}" srcId="{90BF7D06-F8B2-4081-B591-87D8CAA68173}" destId="{F7E5E448-2A35-4EB1-AC6E-C491873DE84F}" srcOrd="1" destOrd="0" parTransId="{4398B43C-3211-4D7E-B458-2F0B6D3BA336}" sibTransId="{E9794967-F0D4-4946-AF3C-0090F0657AD9}"/>
    <dgm:cxn modelId="{89329130-5B42-8F44-9C4C-64B75AC0A338}" type="presOf" srcId="{DE6000B1-EC6C-455F-99B2-F6D9645094B4}" destId="{670B8905-DE3D-2141-A537-D19347797774}" srcOrd="0" destOrd="0" presId="urn:microsoft.com/office/officeart/2005/8/layout/hierarchy1"/>
    <dgm:cxn modelId="{6A2A1FAC-5968-7841-85AD-0E38A73E5CD4}" type="presOf" srcId="{F7E5E448-2A35-4EB1-AC6E-C491873DE84F}" destId="{01D3D384-201B-5A4D-AA13-C8B68FE9B9D1}" srcOrd="0" destOrd="0" presId="urn:microsoft.com/office/officeart/2005/8/layout/hierarchy1"/>
    <dgm:cxn modelId="{DF1E87E3-5D70-EE4C-B1C7-B63D2B52FBA4}" type="presOf" srcId="{90BF7D06-F8B2-4081-B591-87D8CAA68173}" destId="{B96F31C1-A255-6145-A84F-3EA754F2C681}" srcOrd="0" destOrd="0" presId="urn:microsoft.com/office/officeart/2005/8/layout/hierarchy1"/>
    <dgm:cxn modelId="{3B62ABBA-03DF-E542-BB4B-F591B25825F3}" type="presParOf" srcId="{B96F31C1-A255-6145-A84F-3EA754F2C681}" destId="{5681643F-8980-4449-A55A-ECC8A807EFDE}" srcOrd="0" destOrd="0" presId="urn:microsoft.com/office/officeart/2005/8/layout/hierarchy1"/>
    <dgm:cxn modelId="{9C0845EE-6D2D-1E41-9A02-54F2DFF47F85}" type="presParOf" srcId="{5681643F-8980-4449-A55A-ECC8A807EFDE}" destId="{934D370F-39C4-0C4B-9891-3D224C281F14}" srcOrd="0" destOrd="0" presId="urn:microsoft.com/office/officeart/2005/8/layout/hierarchy1"/>
    <dgm:cxn modelId="{99E54C55-D6E6-A248-873E-B1F268866FE0}" type="presParOf" srcId="{934D370F-39C4-0C4B-9891-3D224C281F14}" destId="{724E1D0B-A7BB-D647-A87B-5D9D1400BE70}" srcOrd="0" destOrd="0" presId="urn:microsoft.com/office/officeart/2005/8/layout/hierarchy1"/>
    <dgm:cxn modelId="{CEBDFB5F-43BF-724A-B15E-47C39F6C3072}" type="presParOf" srcId="{934D370F-39C4-0C4B-9891-3D224C281F14}" destId="{670B8905-DE3D-2141-A537-D19347797774}" srcOrd="1" destOrd="0" presId="urn:microsoft.com/office/officeart/2005/8/layout/hierarchy1"/>
    <dgm:cxn modelId="{D4946505-8619-1A4C-A73F-C724E1C10BDB}" type="presParOf" srcId="{5681643F-8980-4449-A55A-ECC8A807EFDE}" destId="{598C07CD-AAA8-0641-B1EF-6BCA9C086382}" srcOrd="1" destOrd="0" presId="urn:microsoft.com/office/officeart/2005/8/layout/hierarchy1"/>
    <dgm:cxn modelId="{B877BDCD-9A78-0049-8FD9-059DC186AD17}" type="presParOf" srcId="{B96F31C1-A255-6145-A84F-3EA754F2C681}" destId="{C6021572-A1FE-3243-8FD1-0F2FE3175FA8}" srcOrd="1" destOrd="0" presId="urn:microsoft.com/office/officeart/2005/8/layout/hierarchy1"/>
    <dgm:cxn modelId="{00DF3461-D2AD-8649-A197-0288F3AFEFEF}" type="presParOf" srcId="{C6021572-A1FE-3243-8FD1-0F2FE3175FA8}" destId="{BA7EBE04-96D4-AA45-B28B-4A57F0D6655E}" srcOrd="0" destOrd="0" presId="urn:microsoft.com/office/officeart/2005/8/layout/hierarchy1"/>
    <dgm:cxn modelId="{45335BCC-F457-6D46-A7FF-F66596F5A3D8}" type="presParOf" srcId="{BA7EBE04-96D4-AA45-B28B-4A57F0D6655E}" destId="{E2E521B6-28CB-9E4A-99A1-1F7C41E841A5}" srcOrd="0" destOrd="0" presId="urn:microsoft.com/office/officeart/2005/8/layout/hierarchy1"/>
    <dgm:cxn modelId="{1600A1A2-0CBF-3B41-B68F-10AF27F8F4E2}" type="presParOf" srcId="{BA7EBE04-96D4-AA45-B28B-4A57F0D6655E}" destId="{01D3D384-201B-5A4D-AA13-C8B68FE9B9D1}" srcOrd="1" destOrd="0" presId="urn:microsoft.com/office/officeart/2005/8/layout/hierarchy1"/>
    <dgm:cxn modelId="{687CA214-40E6-8644-8B8C-02C4F9ACA843}" type="presParOf" srcId="{C6021572-A1FE-3243-8FD1-0F2FE3175FA8}" destId="{2DDB2CA3-AFF3-5B44-9A6D-0EAEEBB2B457}" srcOrd="1" destOrd="0" presId="urn:microsoft.com/office/officeart/2005/8/layout/hierarchy1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DD16D548-103F-43DC-985A-D1BBEE2F93BF}" type="doc">
      <dgm:prSet loTypeId="urn:microsoft.com/office/officeart/2005/8/layout/vList2" loCatId="list" qsTypeId="urn:microsoft.com/office/officeart/2005/8/quickstyle/simple1" qsCatId="simple" csTypeId="urn:microsoft.com/office/officeart/2005/8/colors/colorful2" csCatId="colorful" phldr="1"/>
      <dgm:spPr/>
      <dgm:t>
        <a:bodyPr/>
        <a:lstStyle/>
        <a:p>
          <a:endParaRPr lang="en-US"/>
        </a:p>
      </dgm:t>
    </dgm:pt>
    <dgm:pt modelId="{499C6A8B-CA5A-4AE6-92F2-99B5B8A04B28}">
      <dgm:prSet/>
      <dgm:spPr/>
      <dgm:t>
        <a:bodyPr/>
        <a:lstStyle/>
        <a:p>
          <a:r>
            <a:rPr lang="en-US" b="1"/>
            <a:t>LSTM :</a:t>
          </a:r>
          <a:r>
            <a:rPr lang="en-US"/>
            <a:t> Adds a "forget gate" and a "cell state" to handle long-term dependencies, fixing the RNN's memory loss.</a:t>
          </a:r>
        </a:p>
      </dgm:t>
    </dgm:pt>
    <dgm:pt modelId="{2F95CA2B-981C-412E-804A-E693EDF76D7E}" type="parTrans" cxnId="{8E900104-0D90-4F13-8BE9-A394D42B95D9}">
      <dgm:prSet/>
      <dgm:spPr/>
      <dgm:t>
        <a:bodyPr/>
        <a:lstStyle/>
        <a:p>
          <a:endParaRPr lang="en-US"/>
        </a:p>
      </dgm:t>
    </dgm:pt>
    <dgm:pt modelId="{03F86B46-1749-401B-B4C0-E7ABAC79DA27}" type="sibTrans" cxnId="{8E900104-0D90-4F13-8BE9-A394D42B95D9}">
      <dgm:prSet/>
      <dgm:spPr/>
      <dgm:t>
        <a:bodyPr/>
        <a:lstStyle/>
        <a:p>
          <a:endParaRPr lang="en-US"/>
        </a:p>
      </dgm:t>
    </dgm:pt>
    <dgm:pt modelId="{5CCAF0DE-2A02-4BE8-B320-5F8F8C79EDAC}">
      <dgm:prSet/>
      <dgm:spPr/>
      <dgm:t>
        <a:bodyPr/>
        <a:lstStyle/>
        <a:p>
          <a:r>
            <a:rPr lang="en-US" b="1"/>
            <a:t>GRU :</a:t>
          </a:r>
          <a:r>
            <a:rPr lang="en-US"/>
            <a:t> A simplified version of LSTM with fewer parameters, often faster to train but equally effective.</a:t>
          </a:r>
        </a:p>
      </dgm:t>
    </dgm:pt>
    <dgm:pt modelId="{CC3B883E-7393-4DFD-918B-099C6836ED87}" type="parTrans" cxnId="{612931F7-F0EA-4268-94D0-1C98C85CB56A}">
      <dgm:prSet/>
      <dgm:spPr/>
      <dgm:t>
        <a:bodyPr/>
        <a:lstStyle/>
        <a:p>
          <a:endParaRPr lang="en-US"/>
        </a:p>
      </dgm:t>
    </dgm:pt>
    <dgm:pt modelId="{5DCCEA81-408B-496C-8D93-F2E56D65F93E}" type="sibTrans" cxnId="{612931F7-F0EA-4268-94D0-1C98C85CB56A}">
      <dgm:prSet/>
      <dgm:spPr/>
      <dgm:t>
        <a:bodyPr/>
        <a:lstStyle/>
        <a:p>
          <a:endParaRPr lang="en-US"/>
        </a:p>
      </dgm:t>
    </dgm:pt>
    <dgm:pt modelId="{A6EB7E3F-3A83-7149-85A9-B32EEC572F05}" type="pres">
      <dgm:prSet presAssocID="{DD16D548-103F-43DC-985A-D1BBEE2F93BF}" presName="linear" presStyleCnt="0">
        <dgm:presLayoutVars>
          <dgm:animLvl val="lvl"/>
          <dgm:resizeHandles val="exact"/>
        </dgm:presLayoutVars>
      </dgm:prSet>
      <dgm:spPr/>
    </dgm:pt>
    <dgm:pt modelId="{66C07808-8613-3246-BF31-735B3D87A9D2}" type="pres">
      <dgm:prSet presAssocID="{499C6A8B-CA5A-4AE6-92F2-99B5B8A04B28}" presName="parentText" presStyleLbl="node1" presStyleIdx="0" presStyleCnt="2">
        <dgm:presLayoutVars>
          <dgm:chMax val="0"/>
          <dgm:bulletEnabled val="1"/>
        </dgm:presLayoutVars>
      </dgm:prSet>
      <dgm:spPr/>
    </dgm:pt>
    <dgm:pt modelId="{F4AF6FFA-E473-404B-8948-57DDA6361C94}" type="pres">
      <dgm:prSet presAssocID="{03F86B46-1749-401B-B4C0-E7ABAC79DA27}" presName="spacer" presStyleCnt="0"/>
      <dgm:spPr/>
    </dgm:pt>
    <dgm:pt modelId="{3B55E6A5-1A7A-E44D-B14A-861CE629C2C6}" type="pres">
      <dgm:prSet presAssocID="{5CCAF0DE-2A02-4BE8-B320-5F8F8C79EDAC}" presName="parentText" presStyleLbl="node1" presStyleIdx="1" presStyleCnt="2">
        <dgm:presLayoutVars>
          <dgm:chMax val="0"/>
          <dgm:bulletEnabled val="1"/>
        </dgm:presLayoutVars>
      </dgm:prSet>
      <dgm:spPr/>
    </dgm:pt>
  </dgm:ptLst>
  <dgm:cxnLst>
    <dgm:cxn modelId="{8E900104-0D90-4F13-8BE9-A394D42B95D9}" srcId="{DD16D548-103F-43DC-985A-D1BBEE2F93BF}" destId="{499C6A8B-CA5A-4AE6-92F2-99B5B8A04B28}" srcOrd="0" destOrd="0" parTransId="{2F95CA2B-981C-412E-804A-E693EDF76D7E}" sibTransId="{03F86B46-1749-401B-B4C0-E7ABAC79DA27}"/>
    <dgm:cxn modelId="{B9D69718-A476-0647-8400-AFBC9D82902A}" type="presOf" srcId="{5CCAF0DE-2A02-4BE8-B320-5F8F8C79EDAC}" destId="{3B55E6A5-1A7A-E44D-B14A-861CE629C2C6}" srcOrd="0" destOrd="0" presId="urn:microsoft.com/office/officeart/2005/8/layout/vList2"/>
    <dgm:cxn modelId="{C0A27C55-3308-7945-8EDE-27CBC3AA30C9}" type="presOf" srcId="{DD16D548-103F-43DC-985A-D1BBEE2F93BF}" destId="{A6EB7E3F-3A83-7149-85A9-B32EEC572F05}" srcOrd="0" destOrd="0" presId="urn:microsoft.com/office/officeart/2005/8/layout/vList2"/>
    <dgm:cxn modelId="{612931F7-F0EA-4268-94D0-1C98C85CB56A}" srcId="{DD16D548-103F-43DC-985A-D1BBEE2F93BF}" destId="{5CCAF0DE-2A02-4BE8-B320-5F8F8C79EDAC}" srcOrd="1" destOrd="0" parTransId="{CC3B883E-7393-4DFD-918B-099C6836ED87}" sibTransId="{5DCCEA81-408B-496C-8D93-F2E56D65F93E}"/>
    <dgm:cxn modelId="{58E66EFE-D6CD-3148-B011-7F93190A1B8A}" type="presOf" srcId="{499C6A8B-CA5A-4AE6-92F2-99B5B8A04B28}" destId="{66C07808-8613-3246-BF31-735B3D87A9D2}" srcOrd="0" destOrd="0" presId="urn:microsoft.com/office/officeart/2005/8/layout/vList2"/>
    <dgm:cxn modelId="{439CC776-0C74-AE4A-A3AA-132BBCF44000}" type="presParOf" srcId="{A6EB7E3F-3A83-7149-85A9-B32EEC572F05}" destId="{66C07808-8613-3246-BF31-735B3D87A9D2}" srcOrd="0" destOrd="0" presId="urn:microsoft.com/office/officeart/2005/8/layout/vList2"/>
    <dgm:cxn modelId="{833D46E1-6A16-E945-9BE3-5C95C0EA15E6}" type="presParOf" srcId="{A6EB7E3F-3A83-7149-85A9-B32EEC572F05}" destId="{F4AF6FFA-E473-404B-8948-57DDA6361C94}" srcOrd="1" destOrd="0" presId="urn:microsoft.com/office/officeart/2005/8/layout/vList2"/>
    <dgm:cxn modelId="{8B4C96DD-6134-BD4E-AB47-52A5B481F8B5}" type="presParOf" srcId="{A6EB7E3F-3A83-7149-85A9-B32EEC572F05}" destId="{3B55E6A5-1A7A-E44D-B14A-861CE629C2C6}" srcOrd="2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724E1D0B-A7BB-D647-A87B-5D9D1400BE70}">
      <dsp:nvSpPr>
        <dsp:cNvPr id="0" name=""/>
        <dsp:cNvSpPr/>
      </dsp:nvSpPr>
      <dsp:spPr>
        <a:xfrm>
          <a:off x="1261" y="393494"/>
          <a:ext cx="4428354" cy="2812004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70B8905-DE3D-2141-A537-D19347797774}">
      <dsp:nvSpPr>
        <dsp:cNvPr id="0" name=""/>
        <dsp:cNvSpPr/>
      </dsp:nvSpPr>
      <dsp:spPr>
        <a:xfrm>
          <a:off x="493301" y="860931"/>
          <a:ext cx="4428354" cy="2812004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86690" tIns="186690" rIns="186690" bIns="186690" numCol="1" spcCol="1270" anchor="ctr" anchorCtr="0">
          <a:noAutofit/>
        </a:bodyPr>
        <a:lstStyle/>
        <a:p>
          <a:pPr marL="0" lvl="0" indent="0" algn="ctr" defTabSz="2178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900" kern="1200"/>
            <a:t>Recurrent Models</a:t>
          </a:r>
        </a:p>
      </dsp:txBody>
      <dsp:txXfrm>
        <a:off x="575662" y="943292"/>
        <a:ext cx="4263632" cy="2647282"/>
      </dsp:txXfrm>
    </dsp:sp>
    <dsp:sp modelId="{E2E521B6-28CB-9E4A-99A1-1F7C41E841A5}">
      <dsp:nvSpPr>
        <dsp:cNvPr id="0" name=""/>
        <dsp:cNvSpPr/>
      </dsp:nvSpPr>
      <dsp:spPr>
        <a:xfrm>
          <a:off x="5413694" y="393494"/>
          <a:ext cx="4428354" cy="2812004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1D3D384-201B-5A4D-AA13-C8B68FE9B9D1}">
      <dsp:nvSpPr>
        <dsp:cNvPr id="0" name=""/>
        <dsp:cNvSpPr/>
      </dsp:nvSpPr>
      <dsp:spPr>
        <a:xfrm>
          <a:off x="5905734" y="860931"/>
          <a:ext cx="4428354" cy="2812004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86690" tIns="186690" rIns="186690" bIns="186690" numCol="1" spcCol="1270" anchor="ctr" anchorCtr="0">
          <a:noAutofit/>
        </a:bodyPr>
        <a:lstStyle/>
        <a:p>
          <a:pPr marL="0" lvl="0" indent="0" algn="ctr" defTabSz="2178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900" kern="1200"/>
            <a:t>Transformers</a:t>
          </a:r>
        </a:p>
      </dsp:txBody>
      <dsp:txXfrm>
        <a:off x="5988095" y="943292"/>
        <a:ext cx="4263632" cy="2647282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6C07808-8613-3246-BF31-735B3D87A9D2}">
      <dsp:nvSpPr>
        <dsp:cNvPr id="0" name=""/>
        <dsp:cNvSpPr/>
      </dsp:nvSpPr>
      <dsp:spPr>
        <a:xfrm>
          <a:off x="0" y="272159"/>
          <a:ext cx="6949440" cy="2569319"/>
        </a:xfrm>
        <a:prstGeom prst="round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37160" tIns="137160" rIns="137160" bIns="137160" numCol="1" spcCol="1270" anchor="ctr" anchorCtr="0">
          <a:noAutofit/>
        </a:bodyPr>
        <a:lstStyle/>
        <a:p>
          <a:pPr marL="0" lvl="0" indent="0" algn="l" defTabSz="1600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600" b="1" kern="1200"/>
            <a:t>LSTM :</a:t>
          </a:r>
          <a:r>
            <a:rPr lang="en-US" sz="3600" kern="1200"/>
            <a:t> Adds a "forget gate" and a "cell state" to handle long-term dependencies, fixing the RNN's memory loss.</a:t>
          </a:r>
        </a:p>
      </dsp:txBody>
      <dsp:txXfrm>
        <a:off x="125424" y="397583"/>
        <a:ext cx="6698592" cy="2318471"/>
      </dsp:txXfrm>
    </dsp:sp>
    <dsp:sp modelId="{3B55E6A5-1A7A-E44D-B14A-861CE629C2C6}">
      <dsp:nvSpPr>
        <dsp:cNvPr id="0" name=""/>
        <dsp:cNvSpPr/>
      </dsp:nvSpPr>
      <dsp:spPr>
        <a:xfrm>
          <a:off x="0" y="2945158"/>
          <a:ext cx="6949440" cy="2569319"/>
        </a:xfrm>
        <a:prstGeom prst="roundRect">
          <a:avLst/>
        </a:prstGeom>
        <a:solidFill>
          <a:schemeClr val="accent2">
            <a:hueOff val="-1041329"/>
            <a:satOff val="-21631"/>
            <a:lumOff val="-5882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37160" tIns="137160" rIns="137160" bIns="137160" numCol="1" spcCol="1270" anchor="ctr" anchorCtr="0">
          <a:noAutofit/>
        </a:bodyPr>
        <a:lstStyle/>
        <a:p>
          <a:pPr marL="0" lvl="0" indent="0" algn="l" defTabSz="1600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600" b="1" kern="1200"/>
            <a:t>GRU :</a:t>
          </a:r>
          <a:r>
            <a:rPr lang="en-US" sz="3600" kern="1200"/>
            <a:t> A simplified version of LSTM with fewer parameters, often faster to train but equally effective.</a:t>
          </a:r>
        </a:p>
      </dsp:txBody>
      <dsp:txXfrm>
        <a:off x="125424" y="3070582"/>
        <a:ext cx="6698592" cy="2318471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ierarchy1">
  <dgm:title val=""/>
  <dgm:desc val=""/>
  <dgm:catLst>
    <dgm:cat type="hierarchy" pri="2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hierChild1">
    <dgm:varLst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primFontSz" for="des" ptType="node" op="equ" val="65"/>
      <dgm:constr type="w" for="des" forName="composite" refType="w"/>
      <dgm:constr type="h" for="des" forName="composite" refType="w" refFor="des" refForName="composite" fact="0.667"/>
      <dgm:constr type="w" for="des" forName="composite2" refType="w" refFor="des" refForName="composite"/>
      <dgm:constr type="h" for="des" forName="composite2" refType="h" refFor="des" refForName="composite"/>
      <dgm:constr type="w" for="des" forName="composite3" refType="w" refFor="des" refForName="composite"/>
      <dgm:constr type="h" for="des" forName="composite3" refType="h" refFor="des" refForName="composite"/>
      <dgm:constr type="w" for="des" forName="composite4" refType="w" refFor="des" refForName="composite"/>
      <dgm:constr type="h" for="des" forName="composite4" refType="h" refFor="des" refForName="composite"/>
      <dgm:constr type="w" for="des" forName="composite5" refType="w" refFor="des" refForName="composite"/>
      <dgm:constr type="h" for="des" forName="composite5" refType="h" refFor="des" refForName="composite"/>
      <dgm:constr type="sibSp" refType="w" refFor="des" refForName="composite" fact="0.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p" for="des" forName="hierRoot1" refType="h" refFor="des" refForName="composite" fact="0.25"/>
      <dgm:constr type="sp" for="des" forName="hierRoot2" refType="sp" refFor="des" refForName="hierRoot1"/>
      <dgm:constr type="sp" for="des" forName="hierRoot3" refType="sp" refFor="des" refForName="hierRoot1"/>
      <dgm:constr type="sp" for="des" forName="hierRoot4" refType="sp" refFor="des" refForName="hierRoot1"/>
      <dgm:constr type="sp" for="des" forName="hierRoot5" refType="sp" refFor="des" refForName="hierRoot1"/>
    </dgm:constrLst>
    <dgm:ruleLst/>
    <dgm:forEach name="Name3" axis="ch">
      <dgm:forEach name="Name4" axis="self" ptType="node">
        <dgm:layoutNode name="hierRoot1">
          <dgm:alg type="hierRoot"/>
          <dgm:shape xmlns:r="http://schemas.openxmlformats.org/officeDocument/2006/relationships" r:blip="">
            <dgm:adjLst/>
          </dgm:shape>
          <dgm:presOf/>
          <dgm:constrLst>
            <dgm:constr type="bendDist" for="des" ptType="parTrans" refType="sp" fact="0.5"/>
          </dgm:constrLst>
          <dgm:ruleLst/>
          <dgm:layoutNode name="composite">
            <dgm:alg type="composite"/>
            <dgm:shape xmlns:r="http://schemas.openxmlformats.org/officeDocument/2006/relationships" r:blip="">
              <dgm:adjLst/>
            </dgm:shape>
            <dgm:presOf/>
            <dgm:constrLst>
              <dgm:constr type="w" for="ch" forName="background" refType="w" fact="0.9"/>
              <dgm:constr type="h" for="ch" forName="background" refType="w" refFor="ch" refForName="background" fact="0.635"/>
              <dgm:constr type="t" for="ch" forName="background"/>
              <dgm:constr type="l" for="ch" forName="background"/>
              <dgm:constr type="w" for="ch" forName="text" refType="w" fact="0.9"/>
              <dgm:constr type="h" for="ch" forName="text" refType="w" refFor="ch" refForName="text" fact="0.635"/>
              <dgm:constr type="t" for="ch" forName="text" refType="w" fact="0.095"/>
              <dgm:constr type="l" for="ch" forName="text" refType="w" fact="0.1"/>
            </dgm:constrLst>
            <dgm:ruleLst/>
            <dgm:layoutNode name="background" styleLbl="node0" moveWith="text"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/>
              <dgm:constrLst/>
              <dgm:ruleLst/>
            </dgm:layoutNode>
            <dgm:layoutNode name="text" styleLbl="fgAcc0">
              <dgm:varLst>
                <dgm:chPref val="3"/>
              </dgm:varLst>
              <dgm:alg type="tx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self"/>
              <dgm:constrLst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</dgm:layoutNode>
          <dgm:layoutNode name="hierChild2">
            <dgm:choose name="Name5">
              <dgm:if name="Name6" func="var" arg="dir" op="equ" val="norm">
                <dgm:alg type="hierChild">
                  <dgm:param type="linDir" val="fromL"/>
                </dgm:alg>
              </dgm:if>
              <dgm:else name="Name7">
                <dgm:alg type="hierChild">
                  <dgm:param type="linDir" val="from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Name8" axis="ch">
              <dgm:forEach name="Name9" axis="self" ptType="parTrans" cnt="1">
                <dgm:layoutNode name="Name10">
                  <dgm:alg type="conn">
                    <dgm:param type="dim" val="1D"/>
                    <dgm:param type="endSty" val="noArr"/>
                    <dgm:param type="connRout" val="bend"/>
                    <dgm:param type="bendPt" val="end"/>
                    <dgm:param type="begPts" val="bCtr"/>
                    <dgm:param type="endPts" val="tCtr"/>
                    <dgm:param type="srcNode" val="background"/>
                    <dgm:param type="dstNode" val="background2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forEach name="Name11" axis="self" ptType="node">
                <dgm:layoutNode name="hierRoot2">
                  <dgm:alg type="hierRoot"/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bendDist" for="des" ptType="parTrans" refType="sp" fact="0.5"/>
                  </dgm:constrLst>
                  <dgm:ruleLst/>
                  <dgm:layoutNode name="composite2">
                    <dgm:alg type="composite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w" for="ch" forName="background2" refType="w" fact="0.9"/>
                      <dgm:constr type="h" for="ch" forName="background2" refType="w" refFor="ch" refForName="background2" fact="0.635"/>
                      <dgm:constr type="t" for="ch" forName="background2"/>
                      <dgm:constr type="l" for="ch" forName="background2"/>
                      <dgm:constr type="w" for="ch" forName="text2" refType="w" fact="0.9"/>
                      <dgm:constr type="h" for="ch" forName="text2" refType="w" refFor="ch" refForName="text2" fact="0.635"/>
                      <dgm:constr type="t" for="ch" forName="text2" refType="w" fact="0.095"/>
                      <dgm:constr type="l" for="ch" forName="text2" refType="w" fact="0.1"/>
                    </dgm:constrLst>
                    <dgm:ruleLst/>
                    <dgm:layoutNode name="background2" moveWith="text2"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/>
                      <dgm:constrLst/>
                      <dgm:ruleLst/>
                    </dgm:layoutNode>
                    <dgm:layoutNode name="text2" styleLbl="fgAcc2">
                      <dgm:varLst>
                        <dgm:chPref val="3"/>
                      </dgm:varLst>
                      <dgm:alg type="tx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layoutNode>
                  <dgm:layoutNode name="hierChild3">
                    <dgm:choose name="Name12">
                      <dgm:if name="Name13" func="var" arg="dir" op="equ" val="norm">
                        <dgm:alg type="hierChild">
                          <dgm:param type="linDir" val="fromL"/>
                        </dgm:alg>
                      </dgm:if>
                      <dgm:else name="Name14">
                        <dgm:alg type="hierChild">
                          <dgm:param type="linDir" val="from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  <dgm:forEach name="Name15" axis="ch">
                      <dgm:forEach name="Name16" axis="self" ptType="parTrans" cnt="1">
                        <dgm:layoutNode name="Name17">
                          <dgm:alg type="conn">
                            <dgm:param type="dim" val="1D"/>
                            <dgm:param type="endSty" val="noArr"/>
                            <dgm:param type="connRout" val="bend"/>
                            <dgm:param type="bendPt" val="end"/>
                            <dgm:param type="begPts" val="bCtr"/>
                            <dgm:param type="endPts" val="tCtr"/>
                            <dgm:param type="srcNode" val="background2"/>
                            <dgm:param type="dstNode" val="background3"/>
                          </dgm:alg>
                          <dgm:shape xmlns:r="http://schemas.openxmlformats.org/officeDocument/2006/relationships" type="conn" r:blip="" zOrderOff="-999">
                            <dgm:adjLst/>
                          </dgm:shape>
                          <dgm:presOf axis="self"/>
                          <dgm:constrLst>
                            <dgm:constr type="begPad"/>
                            <dgm:constr type="endPad"/>
                          </dgm:constrLst>
                          <dgm:ruleLst/>
                        </dgm:layoutNode>
                      </dgm:forEach>
                      <dgm:forEach name="Name18" axis="self" ptType="node">
                        <dgm:layoutNode name="hierRoot3">
                          <dgm:alg type="hierRoot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>
                            <dgm:constr type="bendDist" for="des" ptType="parTrans" refType="sp" fact="0.5"/>
                          </dgm:constrLst>
                          <dgm:ruleLst/>
                          <dgm:layoutNode name="composite3">
                            <dgm:alg type="composite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w" for="ch" forName="background3" refType="w" fact="0.9"/>
                              <dgm:constr type="h" for="ch" forName="background3" refType="w" refFor="ch" refForName="background3" fact="0.635"/>
                              <dgm:constr type="t" for="ch" forName="background3"/>
                              <dgm:constr type="l" for="ch" forName="background3"/>
                              <dgm:constr type="w" for="ch" forName="text3" refType="w" fact="0.9"/>
                              <dgm:constr type="h" for="ch" forName="text3" refType="w" refFor="ch" refForName="text3" fact="0.635"/>
                              <dgm:constr type="t" for="ch" forName="text3" refType="w" fact="0.095"/>
                              <dgm:constr type="l" for="ch" forName="text3" refType="w" fact="0.1"/>
                            </dgm:constrLst>
                            <dgm:ruleLst/>
                            <dgm:layoutNode name="background3" moveWith="text3">
                              <dgm:alg type="sp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/>
                              <dgm:constrLst/>
                              <dgm:ruleLst/>
                            </dgm:layoutNode>
                            <dgm:layoutNode name="text3" styleLbl="fgAcc3">
                              <dgm:varLst>
                                <dgm:chPref val="3"/>
                              </dgm:varLst>
                              <dgm:alg type="tx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 axis="self"/>
                              <dgm:constrLst>
                                <dgm:constr type="tMarg" refType="primFontSz" fact="0.3"/>
                                <dgm:constr type="bMarg" refType="primFontSz" fact="0.3"/>
                                <dgm:constr type="lMarg" refType="primFontSz" fact="0.3"/>
                                <dgm:constr type="rMarg" refType="primFontSz" fact="0.3"/>
                              </dgm:constrLst>
                              <dgm:ruleLst>
                                <dgm:rule type="primFontSz" val="5" fact="NaN" max="NaN"/>
                              </dgm:ruleLst>
                            </dgm:layoutNode>
                          </dgm:layoutNode>
                          <dgm:layoutNode name="hierChild4">
                            <dgm:choose name="Name19">
                              <dgm:if name="Name20" func="var" arg="dir" op="equ" val="norm">
                                <dgm:alg type="hierChild">
                                  <dgm:param type="linDir" val="fromL"/>
                                </dgm:alg>
                              </dgm:if>
                              <dgm:else name="Name21">
                                <dgm:alg type="hierChild">
                                  <dgm:param type="linDir" val="fromR"/>
                                </dgm:alg>
                              </dgm:else>
                            </dgm:choose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/>
                            <dgm:ruleLst/>
                            <dgm:forEach name="repeat" axis="ch">
                              <dgm:forEach name="Name22" axis="self" ptType="parTrans" cnt="1">
                                <dgm:layoutNode name="Name23">
                                  <dgm:choose name="Name24">
                                    <dgm:if name="Name25" axis="self" func="depth" op="lte" val="4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3"/>
                                        <dgm:param type="dstNode" val="background4"/>
                                      </dgm:alg>
                                    </dgm:if>
                                    <dgm:else name="Name26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4"/>
                                        <dgm:param type="dstNode" val="background4"/>
                                      </dgm:alg>
                                    </dgm:else>
                                  </dgm:choose>
                                  <dgm:shape xmlns:r="http://schemas.openxmlformats.org/officeDocument/2006/relationships" type="conn" r:blip="" zOrderOff="-999">
                                    <dgm:adjLst/>
                                  </dgm:shape>
                                  <dgm:presOf axis="self"/>
                                  <dgm:constrLst>
                                    <dgm:constr type="begPad"/>
                                    <dgm:constr type="endPad"/>
                                  </dgm:constrLst>
                                  <dgm:ruleLst/>
                                </dgm:layoutNode>
                              </dgm:forEach>
                              <dgm:forEach name="Name27" axis="self" ptType="node">
                                <dgm:layoutNode name="hierRoot4">
                                  <dgm:alg type="hierRoot"/>
                                  <dgm:shape xmlns:r="http://schemas.openxmlformats.org/officeDocument/2006/relationships" r:blip="">
                                    <dgm:adjLst/>
                                  </dgm:shape>
                                  <dgm:presOf/>
                                  <dgm:constrLst>
                                    <dgm:constr type="bendDist" for="des" ptType="parTrans" refType="sp" fact="0.5"/>
                                  </dgm:constrLst>
                                  <dgm:ruleLst/>
                                  <dgm:layoutNode name="composite4">
                                    <dgm:alg type="composite"/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>
                                      <dgm:constr type="w" for="ch" forName="background4" refType="w" fact="0.9"/>
                                      <dgm:constr type="h" for="ch" forName="background4" refType="w" refFor="ch" refForName="background4" fact="0.635"/>
                                      <dgm:constr type="t" for="ch" forName="background4"/>
                                      <dgm:constr type="l" for="ch" forName="background4"/>
                                      <dgm:constr type="w" for="ch" forName="text4" refType="w" fact="0.9"/>
                                      <dgm:constr type="h" for="ch" forName="text4" refType="w" refFor="ch" refForName="text4" fact="0.635"/>
                                      <dgm:constr type="t" for="ch" forName="text4" refType="w" fact="0.095"/>
                                      <dgm:constr type="l" for="ch" forName="text4" refType="w" fact="0.1"/>
                                    </dgm:constrLst>
                                    <dgm:ruleLst/>
                                    <dgm:layoutNode name="background4" moveWith="text4">
                                      <dgm:alg type="sp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/>
                                      <dgm:constrLst/>
                                      <dgm:ruleLst/>
                                    </dgm:layoutNode>
                                    <dgm:layoutNode name="text4" styleLbl="fgAcc4">
                                      <dgm:varLst>
                                        <dgm:chPref val="3"/>
                                      </dgm:varLst>
                                      <dgm:alg type="tx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 axis="self"/>
                                      <dgm:constrLst>
                                        <dgm:constr type="tMarg" refType="primFontSz" fact="0.3"/>
                                        <dgm:constr type="bMarg" refType="primFontSz" fact="0.3"/>
                                        <dgm:constr type="lMarg" refType="primFontSz" fact="0.3"/>
                                        <dgm:constr type="rMarg" refType="primFontSz" fact="0.3"/>
                                      </dgm:constrLst>
                                      <dgm:ruleLst>
                                        <dgm:rule type="primFontSz" val="5" fact="NaN" max="NaN"/>
                                      </dgm:ruleLst>
                                    </dgm:layoutNode>
                                  </dgm:layoutNode>
                                  <dgm:layoutNode name="hierChild5">
                                    <dgm:choose name="Name28">
                                      <dgm:if name="Name29" func="var" arg="dir" op="equ" val="norm">
                                        <dgm:alg type="hierChild">
                                          <dgm:param type="linDir" val="fromL"/>
                                        </dgm:alg>
                                      </dgm:if>
                                      <dgm:else name="Name30">
                                        <dgm:alg type="hierChild">
                                          <dgm:param type="linDir" val="fromR"/>
                                        </dgm:alg>
                                      </dgm:else>
                                    </dgm:choose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/>
                                    <dgm:ruleLst/>
                                    <dgm:forEach name="Name31" ref="repeat"/>
                                  </dgm:layoutNode>
                                </dgm:layoutNode>
                              </dgm:forEach>
                            </dgm:forEach>
                          </dgm:layoutNode>
                        </dgm:layoutNode>
                      </dgm:forEach>
                    </dgm:forEach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9AE5CE0-A6BE-FD47-AC78-73290E67BA3A}" type="datetimeFigureOut">
              <a:rPr lang="en-US" smtClean="0"/>
              <a:t>2/26/26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03F7D91-F733-EB40-B754-6AAF1D3109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880031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project is a </a:t>
            </a:r>
            <a:r>
              <a:rPr lang="en-US" b="1" dirty="0"/>
              <a:t>Deep Learning Stock Price Predictor</a:t>
            </a:r>
            <a:r>
              <a:rPr lang="en-US" dirty="0"/>
              <a:t> that compares four different models—</a:t>
            </a:r>
            <a:r>
              <a:rPr lang="en-US" b="1" dirty="0"/>
              <a:t>RNN, LSTM, GRU, and Transformer</a:t>
            </a:r>
            <a:r>
              <a:rPr lang="en-US" dirty="0"/>
              <a:t>—on three different stocks (NVDA, KO, JPM).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03F7D91-F733-EB40-B754-6AAF1D31093A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701530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03F7D91-F733-EB40-B754-6AAF1D31093A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530173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03F7D91-F733-EB40-B754-6AAF1D31093A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637987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03F7D91-F733-EB40-B754-6AAF1D31093A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553597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algn="r" defTabSz="914400" rtl="1" eaLnBrk="1" latinLnBrk="0" hangingPunct="1"/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03F7D91-F733-EB40-B754-6AAF1D31093A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807771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03F7D91-F733-EB40-B754-6AAF1D31093A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640584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03F7D91-F733-EB40-B754-6AAF1D31093A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1704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03F7D91-F733-EB40-B754-6AAF1D31093A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99995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03F7D91-F733-EB40-B754-6AAF1D31093A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104581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03F7D91-F733-EB40-B754-6AAF1D31093A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890170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03F7D91-F733-EB40-B754-6AAF1D31093A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051895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Learning curve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03F7D91-F733-EB40-B754-6AAF1D31093A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894356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03F7D91-F733-EB40-B754-6AAF1D31093A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916735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01923" y="1122363"/>
            <a:ext cx="7588155" cy="2621154"/>
          </a:xfrm>
        </p:spPr>
        <p:txBody>
          <a:bodyPr anchor="b">
            <a:normAutofit/>
          </a:bodyPr>
          <a:lstStyle>
            <a:lvl1pPr algn="ctr"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301923" y="3843708"/>
            <a:ext cx="7588155" cy="1414091"/>
          </a:xfrm>
        </p:spPr>
        <p:txBody>
          <a:bodyPr>
            <a:normAutofit/>
          </a:bodyPr>
          <a:lstStyle>
            <a:lvl1pPr marL="0" indent="0" algn="ctr">
              <a:buNone/>
              <a:defRPr sz="18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28FA71-3A18-48C0-980F-4B68F7F63042}" type="datetime1">
              <a:rPr lang="en-US" smtClean="0"/>
              <a:t>2/26/26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811962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C1210E-201E-4473-82AC-2466F5386C38}" type="datetime1">
              <a:rPr lang="en-US" smtClean="0"/>
              <a:t>2/26/26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383706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1D06AF-EF87-8489-2C82-DEB90B7EFE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3381" y="553616"/>
            <a:ext cx="8273140" cy="4008859"/>
          </a:xfrm>
        </p:spPr>
        <p:txBody>
          <a:bodyPr anchor="t">
            <a:normAutofit/>
          </a:bodyPr>
          <a:lstStyle>
            <a:lvl1pPr>
              <a:defRPr sz="5400" cap="all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08E5678-CA38-1318-9EA2-5E0A4F9A59B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3380" y="4589463"/>
            <a:ext cx="8273140" cy="1384617"/>
          </a:xfrm>
        </p:spPr>
        <p:txBody>
          <a:bodyPr anchor="b"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4E99186-7E5A-60AF-DE69-5C7DA71611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1EA198-6CAB-4B8F-B93F-1F9C8C4B6CE7}" type="datetime1">
              <a:rPr lang="en-US" smtClean="0"/>
              <a:t>2/26/26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FA13D1-1FBA-E820-323B-77B41F1A66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B39BE85-85F6-4636-C651-D87CC969A4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424956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40"/>
            <a:ext cx="10741152" cy="11322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2E861E-DFBA-B4AA-9356-CDE3D3F57C0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12648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51D7538-EC5A-3EE7-176F-A58920C5079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06041F-4525-44D5-AA4F-332294BF1F56}" type="datetime1">
              <a:rPr lang="en-US" smtClean="0"/>
              <a:t>2/26/26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071664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FEE969-634D-6E32-D227-18E9282C6F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547396"/>
            <a:ext cx="10745788" cy="114329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CD26D4-290A-F0ED-7D62-41EDA6FEC2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9600" y="1685735"/>
            <a:ext cx="5157787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2000" b="1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4DA52B0-7419-A946-4523-6D34BCAD26D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09600" y="2386894"/>
            <a:ext cx="5157787" cy="376508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6536620-C4F3-EEC3-DBF1-05196B1CBB5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5735"/>
            <a:ext cx="5183188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2000" b="1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3BAE980-E611-98B5-04E9-DE4584B0E33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199" y="2386894"/>
            <a:ext cx="5183189" cy="376508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E3B3581-658A-8487-F9CB-E79F2BFF27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557091-BBDF-4EB9-BA6B-2BB67AC4FC0F}" type="datetime1">
              <a:rPr lang="en-US" smtClean="0"/>
              <a:t>2/26/26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49D76D8-9033-26CF-BF4C-AECCC685C1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02A06B8-CC1D-542F-D8EB-7625046B91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596197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9E8268-7232-2944-F1BD-399F9419B5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6B226B-77A6-410C-9796-083F278E0125}" type="datetime1">
              <a:rPr lang="en-US" smtClean="0"/>
              <a:t>2/26/26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968DDD-323F-89A1-84E3-DDBA626D9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FBDC76-671D-1671-DCE2-D5658BD40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393778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9BC4D82-0182-501C-9231-4676768047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3A578B-D289-4C40-8593-3D356C49DA58}" type="datetime1">
              <a:rPr lang="en-US" smtClean="0"/>
              <a:t>2/26/26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0EAA6C9-A7F3-19F1-D17C-A1D83FAF55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EBB816-1B94-116F-92D4-6043AE9E0C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692725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50C37F-77BE-E128-4248-D001C39E79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7160" y="553616"/>
            <a:ext cx="3595634" cy="1757505"/>
          </a:xfrm>
        </p:spPr>
        <p:txBody>
          <a:bodyPr anchor="t">
            <a:normAutofit/>
          </a:bodyPr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3B20A8-A604-C977-02C0-083BA86634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34708" y="553616"/>
            <a:ext cx="6279741" cy="5486400"/>
          </a:xfrm>
        </p:spPr>
        <p:txBody>
          <a:bodyPr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C0EEBFB-2026-6A35-33ED-F008376B67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97160" y="2311121"/>
            <a:ext cx="3595634" cy="3728895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3F05638-7A56-469A-825A-1DFA600254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3DFAE3-14DB-48A7-A80F-80DDB072CE3D}" type="datetime1">
              <a:rPr lang="en-US" smtClean="0"/>
              <a:t>2/26/26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C85A215-184B-2105-0279-ED02F64458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2C7CA46-892B-253A-3A28-7414E17B83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366957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B06A09-98CF-FAC2-3708-AECC4360C6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4360" y="557784"/>
            <a:ext cx="3595634" cy="2212313"/>
          </a:xfrm>
        </p:spPr>
        <p:txBody>
          <a:bodyPr anchor="t">
            <a:normAutofit/>
          </a:bodyPr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571C769-CEC8-962A-01E6-15B0E056791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063319" y="657103"/>
            <a:ext cx="6483687" cy="5555904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32C4A61-EF2A-C5A5-B150-4448600B393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09601" y="2826137"/>
            <a:ext cx="3585586" cy="3434638"/>
          </a:xfrm>
        </p:spPr>
        <p:txBody>
          <a:bodyPr anchor="b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20B235E-39C7-4C78-20EF-DB48ECD9CB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C5EAEF-6478-4102-8F5D-A5FE9FC97ACB}" type="datetime1">
              <a:rPr lang="en-US" smtClean="0"/>
              <a:t>2/26/26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FDC75DA-9A78-9AB9-7171-95A08CC51C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EFE1A03-DCCB-53C7-DBFE-2AD55C9059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058239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4E956D-CB73-C986-F100-46487310D1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40"/>
            <a:ext cx="10515600" cy="1132258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E423E6A-A07C-BF0D-EA30-9A8A854E48F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12648" y="1680898"/>
            <a:ext cx="10515600" cy="449606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EDC9908-8F95-8DFC-72CC-158552B567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04EDB3-C0E8-45F8-9E1D-1B6C8D1880C0}" type="datetime1">
              <a:rPr lang="en-US" smtClean="0"/>
              <a:t>2/26/26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C26C9BE-9060-50CB-2BB7-07307FF89A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4A835B-97D3-BC22-F0B8-4986D46362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94223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85B0252-346C-F6F4-3642-19F571550D4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9634888" y="578497"/>
            <a:ext cx="2047037" cy="5598466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798DA36-7351-9D6A-518B-678AB8A507D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578497"/>
            <a:ext cx="8796688" cy="559846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46BDFF-D746-836C-04B8-CA89AD5D14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F0EC4B-54ED-4041-B552-9BA760FA3DBA}" type="datetime1">
              <a:rPr lang="en-US" smtClean="0"/>
              <a:t>2/26/26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19AA929-A9E6-FF9C-0C59-177F892D6A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16D893-7E81-90DC-4139-7687B39C3A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04207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5BFB69-9245-EC58-F1DE-FEB625BD33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40"/>
            <a:ext cx="10653578" cy="113225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16AFD5-5144-C460-0CA4-644BC4A93C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12647" y="1715532"/>
            <a:ext cx="10653579" cy="459382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95753E-AF8A-7E04-8A1A-205B755A02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37160" y="6453002"/>
            <a:ext cx="349431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fld id="{67F45AC6-C491-4585-A584-9CE2AF7D5500}" type="datetime1">
              <a:rPr lang="en-US" smtClean="0"/>
              <a:t>2/26/26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E1B7C8-DA74-800B-EE14-A39E9DB32D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876521" y="6453002"/>
            <a:ext cx="280540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C1647D-0DF0-CA1B-F723-EF7B8F508D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632162" y="6453002"/>
            <a:ext cx="42920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303746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9" r:id="rId1"/>
    <p:sldLayoutId id="2147483690" r:id="rId2"/>
    <p:sldLayoutId id="2147483691" r:id="rId3"/>
    <p:sldLayoutId id="2147483692" r:id="rId4"/>
    <p:sldLayoutId id="2147483693" r:id="rId5"/>
    <p:sldLayoutId id="2147483699" r:id="rId6"/>
    <p:sldLayoutId id="2147483694" r:id="rId7"/>
    <p:sldLayoutId id="2147483695" r:id="rId8"/>
    <p:sldLayoutId id="2147483696" r:id="rId9"/>
    <p:sldLayoutId id="2147483698" r:id="rId10"/>
    <p:sldLayoutId id="2147483697" r:id="rId11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9144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11430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jpe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6" name="Rectangle 15">
            <a:extLst>
              <a:ext uri="{FF2B5EF4-FFF2-40B4-BE49-F238E27FC236}">
                <a16:creationId xmlns:a16="http://schemas.microsoft.com/office/drawing/2014/main" id="{01187F7A-920C-B377-65E8-1CF4CBCE3C2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EA7A663-A32E-5D00-67F8-94FF245DC1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09490" y="5293849"/>
            <a:ext cx="8454682" cy="1178688"/>
          </a:xfrm>
        </p:spPr>
        <p:txBody>
          <a:bodyPr anchor="ctr">
            <a:normAutofit/>
          </a:bodyPr>
          <a:lstStyle/>
          <a:p>
            <a:pPr algn="l"/>
            <a:r>
              <a:rPr lang="en-US" dirty="0"/>
              <a:t>Stock Market analysis with DL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9A9FE5B-38B9-B724-FD35-7CD49148A9B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340947" y="5293850"/>
            <a:ext cx="2345333" cy="1178688"/>
          </a:xfrm>
        </p:spPr>
        <p:txBody>
          <a:bodyPr anchor="ctr">
            <a:normAutofit/>
          </a:bodyPr>
          <a:lstStyle/>
          <a:p>
            <a:pPr algn="r"/>
            <a:r>
              <a:rPr lang="en-US" dirty="0"/>
              <a:t>Roshanak Behrouz</a:t>
            </a:r>
          </a:p>
          <a:p>
            <a:r>
              <a:rPr lang="en-US" dirty="0"/>
              <a:t>2026</a:t>
            </a:r>
          </a:p>
        </p:txBody>
      </p:sp>
      <p:pic>
        <p:nvPicPr>
          <p:cNvPr id="4" name="Picture 3" descr="Digital business graph and charts">
            <a:extLst>
              <a:ext uri="{FF2B5EF4-FFF2-40B4-BE49-F238E27FC236}">
                <a16:creationId xmlns:a16="http://schemas.microsoft.com/office/drawing/2014/main" id="{9A4E5E36-77E2-812E-4FB1-C57FAB10927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3284" b="12404"/>
          <a:stretch>
            <a:fillRect/>
          </a:stretch>
        </p:blipFill>
        <p:spPr>
          <a:xfrm>
            <a:off x="20" y="10"/>
            <a:ext cx="12191980" cy="49083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603391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2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2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BA2AFC67-0973-EC0D-F14E-710D701B20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42E278F-6F43-B2BC-D5C6-C6639F04FB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603504"/>
            <a:ext cx="3553412" cy="1527048"/>
          </a:xfrm>
        </p:spPr>
        <p:txBody>
          <a:bodyPr anchor="b">
            <a:normAutofit/>
          </a:bodyPr>
          <a:lstStyle/>
          <a:p>
            <a:r>
              <a:rPr lang="en-US" dirty="0"/>
              <a:t>Project Goal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48B1A08-57EC-A350-B7CA-BB2506BD229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2648" y="2212848"/>
            <a:ext cx="3553412" cy="412242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1800" dirty="0"/>
              <a:t>The objective is to predict the </a:t>
            </a:r>
            <a:r>
              <a:rPr lang="en-US" sz="1800" b="1" dirty="0"/>
              <a:t>next day's closing price</a:t>
            </a:r>
            <a:r>
              <a:rPr lang="en-US" sz="1800" dirty="0"/>
              <a:t> of a stock based on a window of previous 60 days.</a:t>
            </a:r>
          </a:p>
        </p:txBody>
      </p:sp>
      <p:pic>
        <p:nvPicPr>
          <p:cNvPr id="5" name="Picture 4" descr="Magnifying glass showing decling performance">
            <a:extLst>
              <a:ext uri="{FF2B5EF4-FFF2-40B4-BE49-F238E27FC236}">
                <a16:creationId xmlns:a16="http://schemas.microsoft.com/office/drawing/2014/main" id="{7BE402E0-655D-4D46-08AF-4197ABD73F6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7235" r="20355" b="-1"/>
          <a:stretch>
            <a:fillRect/>
          </a:stretch>
        </p:blipFill>
        <p:spPr>
          <a:xfrm>
            <a:off x="4752550" y="10"/>
            <a:ext cx="7439450" cy="68579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945284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01A22726-DA03-BCB0-F12E-98258FB7E5C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33890D3-5C2D-F0B7-EDF6-1AB2CCFD67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548640"/>
            <a:ext cx="9160475" cy="1132258"/>
          </a:xfrm>
        </p:spPr>
        <p:txBody>
          <a:bodyPr anchor="ctr">
            <a:normAutofit/>
          </a:bodyPr>
          <a:lstStyle/>
          <a:p>
            <a:pPr algn="ctr"/>
            <a:r>
              <a:rPr lang="en-US" dirty="0"/>
              <a:t>Dataset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BA3F9073-3600-A449-B63D-D2B4EBA67732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534102481"/>
              </p:ext>
            </p:extLst>
          </p:nvPr>
        </p:nvGraphicFramePr>
        <p:xfrm>
          <a:off x="1560108" y="2037806"/>
          <a:ext cx="6309923" cy="4066433"/>
        </p:xfrm>
        <a:graphic>
          <a:graphicData uri="http://schemas.openxmlformats.org/drawingml/2006/table">
            <a:tbl>
              <a:tblPr/>
              <a:tblGrid>
                <a:gridCol w="1483338">
                  <a:extLst>
                    <a:ext uri="{9D8B030D-6E8A-4147-A177-3AD203B41FA5}">
                      <a16:colId xmlns:a16="http://schemas.microsoft.com/office/drawing/2014/main" val="1154374635"/>
                    </a:ext>
                  </a:extLst>
                </a:gridCol>
                <a:gridCol w="2075186">
                  <a:extLst>
                    <a:ext uri="{9D8B030D-6E8A-4147-A177-3AD203B41FA5}">
                      <a16:colId xmlns:a16="http://schemas.microsoft.com/office/drawing/2014/main" val="98256208"/>
                    </a:ext>
                  </a:extLst>
                </a:gridCol>
                <a:gridCol w="2751399">
                  <a:extLst>
                    <a:ext uri="{9D8B030D-6E8A-4147-A177-3AD203B41FA5}">
                      <a16:colId xmlns:a16="http://schemas.microsoft.com/office/drawing/2014/main" val="680579973"/>
                    </a:ext>
                  </a:extLst>
                </a:gridCol>
              </a:tblGrid>
              <a:tr h="465435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800" b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Ticker</a:t>
                      </a:r>
                      <a:endParaRPr lang="en-US" sz="18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114828" marR="114828" marT="76552" marB="76552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800" b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Sector</a:t>
                      </a:r>
                      <a:endParaRPr lang="en-US" sz="18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114828" marR="114828" marT="76552" marB="76552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800" b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Market Behavior</a:t>
                      </a:r>
                      <a:endParaRPr lang="en-US" sz="18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114828" marR="114828" marT="76552" marB="76552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54549698"/>
                  </a:ext>
                </a:extLst>
              </a:tr>
              <a:tr h="1292195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800" b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NVDA</a:t>
                      </a:r>
                      <a:endParaRPr lang="en-US" sz="18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114828" marR="114828" marT="76552" marB="76552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800" b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Tech / AI</a:t>
                      </a:r>
                      <a:endParaRPr lang="en-US" sz="18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114828" marR="114828" marT="76552" marB="76552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800" b="1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Hyper-Growth &amp; Momentum.</a:t>
                      </a:r>
                      <a:r>
                        <a:rPr lang="en-US" sz="1800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 Explosive trends, huge volatility.</a:t>
                      </a:r>
                    </a:p>
                  </a:txBody>
                  <a:tcPr marL="114828" marR="114828" marT="76552" marB="76552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63613680"/>
                  </a:ext>
                </a:extLst>
              </a:tr>
              <a:tr h="1292195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800" b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KO</a:t>
                      </a:r>
                      <a:endParaRPr lang="en-US" sz="18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114828" marR="114828" marT="76552" marB="76552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800" b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Staples</a:t>
                      </a:r>
                      <a:endParaRPr lang="en-US" sz="18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114828" marR="114828" marT="76552" marB="76552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800" b="1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Defensive &amp; Stable.</a:t>
                      </a:r>
                      <a:r>
                        <a:rPr lang="en-US" sz="1800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 Low volatility, slow steady growth.</a:t>
                      </a:r>
                    </a:p>
                  </a:txBody>
                  <a:tcPr marL="114828" marR="114828" marT="76552" marB="76552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8639391"/>
                  </a:ext>
                </a:extLst>
              </a:tr>
              <a:tr h="1016608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800" b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JPM</a:t>
                      </a:r>
                      <a:endParaRPr lang="en-US" sz="18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114828" marR="114828" marT="76552" marB="76552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800" b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Financials</a:t>
                      </a:r>
                      <a:endParaRPr lang="en-US" sz="18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114828" marR="114828" marT="76552" marB="76552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800" b="1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Cyclical &amp; Macro.</a:t>
                      </a:r>
                      <a:r>
                        <a:rPr lang="en-US" sz="1800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 Moves with the economy. </a:t>
                      </a:r>
                    </a:p>
                  </a:txBody>
                  <a:tcPr marL="114828" marR="114828" marT="76552" marB="76552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20178913"/>
                  </a:ext>
                </a:extLst>
              </a:tr>
            </a:tbl>
          </a:graphicData>
        </a:graphic>
      </p:graphicFrame>
      <p:pic>
        <p:nvPicPr>
          <p:cNvPr id="5" name="Picture 4" descr="A green and white logo&#10;&#10;AI-generated content may be incorrect.">
            <a:extLst>
              <a:ext uri="{FF2B5EF4-FFF2-40B4-BE49-F238E27FC236}">
                <a16:creationId xmlns:a16="http://schemas.microsoft.com/office/drawing/2014/main" id="{9734F562-CB83-63A1-7082-386F5FC5922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2946" t="6770" r="32010" b="7515"/>
          <a:stretch>
            <a:fillRect/>
          </a:stretch>
        </p:blipFill>
        <p:spPr>
          <a:xfrm>
            <a:off x="9220346" y="2229538"/>
            <a:ext cx="1303276" cy="1240971"/>
          </a:xfrm>
          <a:prstGeom prst="rect">
            <a:avLst/>
          </a:prstGeom>
        </p:spPr>
      </p:pic>
      <p:pic>
        <p:nvPicPr>
          <p:cNvPr id="6" name="Picture 5" descr="A red and black logo&#10;&#10;AI-generated content may be incorrect.">
            <a:extLst>
              <a:ext uri="{FF2B5EF4-FFF2-40B4-BE49-F238E27FC236}">
                <a16:creationId xmlns:a16="http://schemas.microsoft.com/office/drawing/2014/main" id="{5C9F66E1-6F61-BF1A-055B-F09D34A2C89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59299" y="3809354"/>
            <a:ext cx="2271486" cy="713388"/>
          </a:xfrm>
          <a:prstGeom prst="rect">
            <a:avLst/>
          </a:prstGeom>
        </p:spPr>
      </p:pic>
      <p:pic>
        <p:nvPicPr>
          <p:cNvPr id="7" name="Picture 6" descr="A blue logo with brown text&#10;&#10;AI-generated content may be incorrect.">
            <a:extLst>
              <a:ext uri="{FF2B5EF4-FFF2-40B4-BE49-F238E27FC236}">
                <a16:creationId xmlns:a16="http://schemas.microsoft.com/office/drawing/2014/main" id="{66D937B3-FEF3-474B-55E3-E9F5C7EAF6D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20346" y="4831229"/>
            <a:ext cx="1464129" cy="14641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496659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FFF19A-3FBD-47C9-96E8-F370BC529C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DataSet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FE4AF54-BA69-1F8C-84D6-7DF3DC1D652E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b="1" dirty="0">
                <a:latin typeface="Arial" panose="020B0604020202020204" pitchFamily="34" charset="0"/>
              </a:rPr>
              <a:t>Source:</a:t>
            </a:r>
            <a:r>
              <a:rPr lang="en-US" altLang="en-US" dirty="0">
                <a:latin typeface="Arial" panose="020B0604020202020204" pitchFamily="34" charset="0"/>
              </a:rPr>
              <a:t> Historical stock market data is downloaded directly using the yfinance API.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b="1" dirty="0">
                <a:latin typeface="Arial" panose="020B0604020202020204" pitchFamily="34" charset="0"/>
              </a:rPr>
              <a:t>Date Range: </a:t>
            </a:r>
            <a:r>
              <a:rPr lang="en-US" dirty="0">
                <a:latin typeface="Arial" panose="020B0604020202020204" pitchFamily="34" charset="0"/>
              </a:rPr>
              <a:t>2015-2024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dirty="0">
              <a:latin typeface="Arial" panose="020B0604020202020204" pitchFamily="34" charset="0"/>
            </a:endParaRPr>
          </a:p>
          <a:p>
            <a:r>
              <a:rPr lang="en-US" b="1" dirty="0"/>
              <a:t>Data Split:</a:t>
            </a:r>
            <a:endParaRPr lang="en-US" dirty="0"/>
          </a:p>
          <a:p>
            <a:r>
              <a:rPr lang="en-US" dirty="0"/>
              <a:t>80% Training</a:t>
            </a:r>
          </a:p>
          <a:p>
            <a:r>
              <a:rPr lang="en-US" dirty="0"/>
              <a:t>10% Validation</a:t>
            </a:r>
          </a:p>
          <a:p>
            <a:r>
              <a:rPr lang="en-US" dirty="0"/>
              <a:t>10% Testing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dirty="0">
              <a:latin typeface="Arial" panose="020B0604020202020204" pitchFamily="34" charset="0"/>
            </a:endParaRPr>
          </a:p>
          <a:p>
            <a:endParaRPr lang="en-US" dirty="0"/>
          </a:p>
        </p:txBody>
      </p:sp>
      <p:pic>
        <p:nvPicPr>
          <p:cNvPr id="6" name="Content Placeholder 5" descr="A screenshot of a computer&#10;&#10;AI-generated content may be incorrect.">
            <a:extLst>
              <a:ext uri="{FF2B5EF4-FFF2-40B4-BE49-F238E27FC236}">
                <a16:creationId xmlns:a16="http://schemas.microsoft.com/office/drawing/2014/main" id="{1999B79A-FEC1-F7E3-5E4E-362AFB528953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/>
          <a:stretch>
            <a:fillRect/>
          </a:stretch>
        </p:blipFill>
        <p:spPr>
          <a:xfrm>
            <a:off x="3743301" y="2683239"/>
            <a:ext cx="8448700" cy="4174761"/>
          </a:xfrm>
        </p:spPr>
      </p:pic>
    </p:spTree>
    <p:extLst>
      <p:ext uri="{BB962C8B-B14F-4D97-AF65-F5344CB8AC3E}">
        <p14:creationId xmlns:p14="http://schemas.microsoft.com/office/powerpoint/2010/main" val="144319966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715B9334-3E03-4CA7-3616-4D3C9DC2C7D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82CBC72-3BAA-78E6-1893-F7B1579D39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0614" y="548640"/>
            <a:ext cx="9466530" cy="1132258"/>
          </a:xfrm>
        </p:spPr>
        <p:txBody>
          <a:bodyPr>
            <a:normAutofit/>
          </a:bodyPr>
          <a:lstStyle/>
          <a:p>
            <a:r>
              <a:rPr lang="en-US" dirty="0"/>
              <a:t>Feature Engineering :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0C9B63C2-CF0D-B1DB-EC2E-9C6FD5707393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213968820"/>
              </p:ext>
            </p:extLst>
          </p:nvPr>
        </p:nvGraphicFramePr>
        <p:xfrm>
          <a:off x="1520692" y="2039112"/>
          <a:ext cx="9150616" cy="4069083"/>
        </p:xfrm>
        <a:graphic>
          <a:graphicData uri="http://schemas.openxmlformats.org/drawingml/2006/table">
            <a:tbl>
              <a:tblPr/>
              <a:tblGrid>
                <a:gridCol w="2148233">
                  <a:extLst>
                    <a:ext uri="{9D8B030D-6E8A-4147-A177-3AD203B41FA5}">
                      <a16:colId xmlns:a16="http://schemas.microsoft.com/office/drawing/2014/main" val="591757201"/>
                    </a:ext>
                  </a:extLst>
                </a:gridCol>
                <a:gridCol w="2747660">
                  <a:extLst>
                    <a:ext uri="{9D8B030D-6E8A-4147-A177-3AD203B41FA5}">
                      <a16:colId xmlns:a16="http://schemas.microsoft.com/office/drawing/2014/main" val="3920961278"/>
                    </a:ext>
                  </a:extLst>
                </a:gridCol>
                <a:gridCol w="4254723">
                  <a:extLst>
                    <a:ext uri="{9D8B030D-6E8A-4147-A177-3AD203B41FA5}">
                      <a16:colId xmlns:a16="http://schemas.microsoft.com/office/drawing/2014/main" val="2427452521"/>
                    </a:ext>
                  </a:extLst>
                </a:gridCol>
              </a:tblGrid>
              <a:tr h="538764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2100" b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Feature</a:t>
                      </a:r>
                      <a:endParaRPr lang="en-US" sz="21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132919" marR="132919" marT="88612" marB="88612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2100" b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Type</a:t>
                      </a:r>
                      <a:endParaRPr lang="en-US" sz="21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132919" marR="132919" marT="88612" marB="88612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2100" b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Role in Prediction</a:t>
                      </a:r>
                      <a:endParaRPr lang="en-US" sz="21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132919" marR="132919" marT="88612" marB="88612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93872857"/>
                  </a:ext>
                </a:extLst>
              </a:tr>
              <a:tr h="1176773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2100" b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RSI</a:t>
                      </a:r>
                      <a:endParaRPr lang="en-US" sz="21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132919" marR="132919" marT="88612" marB="88612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2100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Momentum</a:t>
                      </a:r>
                    </a:p>
                  </a:txBody>
                  <a:tcPr marL="132919" marR="132919" marT="88612" marB="88612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2100" kern="1200" dirty="0">
                          <a:solidFill>
                            <a:srgbClr val="1F1F1F"/>
                          </a:solidFill>
                          <a:effectLst/>
                          <a:latin typeface="Google Sans Text"/>
                          <a:ea typeface="+mn-ea"/>
                          <a:cs typeface="+mn-cs"/>
                        </a:rPr>
                        <a:t>Overbought/Oversold</a:t>
                      </a:r>
                    </a:p>
                  </a:txBody>
                  <a:tcPr marL="132919" marR="132919" marT="88612" marB="88612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24967444"/>
                  </a:ext>
                </a:extLst>
              </a:tr>
              <a:tr h="1176773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2100" b="1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MACD</a:t>
                      </a:r>
                      <a:endParaRPr lang="en-US" sz="2100" dirty="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132919" marR="132919" marT="88612" marB="88612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210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Trend</a:t>
                      </a:r>
                    </a:p>
                  </a:txBody>
                  <a:tcPr marL="132919" marR="132919" marT="88612" marB="88612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2100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Helps to recognize the start of new trends vs. random noise.</a:t>
                      </a:r>
                    </a:p>
                  </a:txBody>
                  <a:tcPr marL="132919" marR="132919" marT="88612" marB="88612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40821039"/>
                  </a:ext>
                </a:extLst>
              </a:tr>
              <a:tr h="1176773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2100" b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SMA_20</a:t>
                      </a:r>
                      <a:endParaRPr lang="en-US" sz="21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132919" marR="132919" marT="88612" marB="88612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2100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Smoothing</a:t>
                      </a:r>
                    </a:p>
                  </a:txBody>
                  <a:tcPr marL="132919" marR="132919" marT="88612" marB="88612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2100" kern="1200" dirty="0">
                          <a:solidFill>
                            <a:srgbClr val="1F1F1F"/>
                          </a:solidFill>
                          <a:effectLst/>
                          <a:latin typeface="Google Sans Text"/>
                          <a:ea typeface="+mn-ea"/>
                          <a:cs typeface="+mn-cs"/>
                        </a:rPr>
                        <a:t>Average Price over the last business month</a:t>
                      </a:r>
                    </a:p>
                  </a:txBody>
                  <a:tcPr marL="132919" marR="132919" marT="88612" marB="88612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3696639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291643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E52C10-E2C5-0934-2571-0595D19F94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Technical Indicators Overview</a:t>
            </a:r>
          </a:p>
        </p:txBody>
      </p:sp>
      <p:pic>
        <p:nvPicPr>
          <p:cNvPr id="5" name="Content Placeholder 4" descr="A graph of a price&#10;&#10;AI-generated content may be incorrect.">
            <a:extLst>
              <a:ext uri="{FF2B5EF4-FFF2-40B4-BE49-F238E27FC236}">
                <a16:creationId xmlns:a16="http://schemas.microsoft.com/office/drawing/2014/main" id="{80692E94-F243-13B2-4A12-CD23B878B22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rcRect b="3697"/>
          <a:stretch>
            <a:fillRect/>
          </a:stretch>
        </p:blipFill>
        <p:spPr>
          <a:xfrm>
            <a:off x="612649" y="1781404"/>
            <a:ext cx="3753068" cy="4637314"/>
          </a:xfrm>
        </p:spPr>
      </p:pic>
      <p:pic>
        <p:nvPicPr>
          <p:cNvPr id="7" name="Picture 6" descr="A graph of stock market&#10;&#10;AI-generated content may be incorrect.">
            <a:extLst>
              <a:ext uri="{FF2B5EF4-FFF2-40B4-BE49-F238E27FC236}">
                <a16:creationId xmlns:a16="http://schemas.microsoft.com/office/drawing/2014/main" id="{957AF093-E046-406D-1018-D42ABA713DEC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1920"/>
          <a:stretch>
            <a:fillRect/>
          </a:stretch>
        </p:blipFill>
        <p:spPr>
          <a:xfrm>
            <a:off x="4256859" y="1870416"/>
            <a:ext cx="3896541" cy="4548302"/>
          </a:xfrm>
          <a:prstGeom prst="rect">
            <a:avLst/>
          </a:prstGeom>
        </p:spPr>
      </p:pic>
      <p:pic>
        <p:nvPicPr>
          <p:cNvPr id="9" name="Picture 8" descr="A graph of stock prices&#10;&#10;AI-generated content may be incorrect.">
            <a:extLst>
              <a:ext uri="{FF2B5EF4-FFF2-40B4-BE49-F238E27FC236}">
                <a16:creationId xmlns:a16="http://schemas.microsoft.com/office/drawing/2014/main" id="{9AD35DA4-355D-0140-5830-3E3EA0DEC709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b="3767"/>
          <a:stretch>
            <a:fillRect/>
          </a:stretch>
        </p:blipFill>
        <p:spPr>
          <a:xfrm>
            <a:off x="8148938" y="1870416"/>
            <a:ext cx="3896541" cy="45483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5837099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01A22726-DA03-BCB0-F12E-98258FB7E5C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702C644-78DA-3BE7-5C47-65A1BCCD38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548640"/>
            <a:ext cx="9160475" cy="1132258"/>
          </a:xfrm>
        </p:spPr>
        <p:txBody>
          <a:bodyPr anchor="ctr">
            <a:normAutofit/>
          </a:bodyPr>
          <a:lstStyle/>
          <a:p>
            <a:pPr algn="ctr"/>
            <a:r>
              <a:rPr lang="en-US" dirty="0"/>
              <a:t>The models</a:t>
            </a:r>
            <a:endParaRPr lang="en-US"/>
          </a:p>
        </p:txBody>
      </p:sp>
      <p:graphicFrame>
        <p:nvGraphicFramePr>
          <p:cNvPr id="9" name="Content Placeholder 6">
            <a:extLst>
              <a:ext uri="{FF2B5EF4-FFF2-40B4-BE49-F238E27FC236}">
                <a16:creationId xmlns:a16="http://schemas.microsoft.com/office/drawing/2014/main" id="{B80A6665-0477-03CE-15F9-A503F3950852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99886758"/>
              </p:ext>
            </p:extLst>
          </p:nvPr>
        </p:nvGraphicFramePr>
        <p:xfrm>
          <a:off x="930876" y="2037806"/>
          <a:ext cx="10335350" cy="406643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24028712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ctangle 20">
            <a:extLst>
              <a:ext uri="{FF2B5EF4-FFF2-40B4-BE49-F238E27FC236}">
                <a16:creationId xmlns:a16="http://schemas.microsoft.com/office/drawing/2014/main" id="{600DC1B0-7E1A-BD02-3F93-19E6B1B750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896F0B1-DD33-A9C7-FAA1-B47C3B903F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9" y="548638"/>
            <a:ext cx="3493008" cy="5788152"/>
          </a:xfrm>
        </p:spPr>
        <p:txBody>
          <a:bodyPr anchor="ctr">
            <a:normAutofit/>
          </a:bodyPr>
          <a:lstStyle/>
          <a:p>
            <a:r>
              <a:rPr lang="en-US" sz="4000" dirty="0"/>
              <a:t>Recurrent</a:t>
            </a:r>
            <a:br>
              <a:rPr lang="en-US" sz="4000" dirty="0"/>
            </a:br>
            <a:r>
              <a:rPr lang="en-US" sz="4000" dirty="0"/>
              <a:t>       NN</a:t>
            </a:r>
            <a:br>
              <a:rPr lang="en-US" sz="4000" dirty="0"/>
            </a:br>
            <a:endParaRPr lang="en-US" sz="4000" dirty="0"/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69D98F0C-0D6D-669E-9F44-E894299A0294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555708716"/>
              </p:ext>
            </p:extLst>
          </p:nvPr>
        </p:nvGraphicFramePr>
        <p:xfrm>
          <a:off x="4608246" y="548640"/>
          <a:ext cx="6949440" cy="57866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26897836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7F78FA-46E2-4FF5-2EB6-00029C28CC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LSTM (Long Short-Term Memory)</a:t>
            </a:r>
          </a:p>
        </p:txBody>
      </p:sp>
      <p:pic>
        <p:nvPicPr>
          <p:cNvPr id="7" name="Content Placeholder 6" descr="A diagram of a memory&#10;&#10;AI-generated content may be incorrect.">
            <a:extLst>
              <a:ext uri="{FF2B5EF4-FFF2-40B4-BE49-F238E27FC236}">
                <a16:creationId xmlns:a16="http://schemas.microsoft.com/office/drawing/2014/main" id="{3DCE3909-EB5C-CC31-D2C2-58B45EDFEDA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rcRect t="11846"/>
          <a:stretch>
            <a:fillRect/>
          </a:stretch>
        </p:blipFill>
        <p:spPr>
          <a:xfrm>
            <a:off x="328246" y="1860452"/>
            <a:ext cx="11535508" cy="4448908"/>
          </a:xfr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70B20A16-47D6-E133-55FB-CBA1A026A6E9}"/>
              </a:ext>
            </a:extLst>
          </p:cNvPr>
          <p:cNvSpPr txBox="1"/>
          <p:nvPr/>
        </p:nvSpPr>
        <p:spPr>
          <a:xfrm>
            <a:off x="612648" y="6309360"/>
            <a:ext cx="9554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Day 30</a:t>
            </a:r>
          </a:p>
        </p:txBody>
      </p:sp>
    </p:spTree>
    <p:extLst>
      <p:ext uri="{BB962C8B-B14F-4D97-AF65-F5344CB8AC3E}">
        <p14:creationId xmlns:p14="http://schemas.microsoft.com/office/powerpoint/2010/main" val="389749186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8AA873-793E-1A3F-8C9A-490A6B6C59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GRU (Gated Recurrent Unit)</a:t>
            </a:r>
          </a:p>
        </p:txBody>
      </p:sp>
      <p:pic>
        <p:nvPicPr>
          <p:cNvPr id="5" name="Content Placeholder 4" descr="A diagram of a complex structure&#10;&#10;AI-generated content may be incorrect.">
            <a:extLst>
              <a:ext uri="{FF2B5EF4-FFF2-40B4-BE49-F238E27FC236}">
                <a16:creationId xmlns:a16="http://schemas.microsoft.com/office/drawing/2014/main" id="{38302D80-55AF-C00A-C4DC-16AF86EF59A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rcRect t="7431"/>
          <a:stretch>
            <a:fillRect/>
          </a:stretch>
        </p:blipFill>
        <p:spPr>
          <a:xfrm>
            <a:off x="2199935" y="1200546"/>
            <a:ext cx="7792130" cy="5452045"/>
          </a:xfrm>
        </p:spPr>
      </p:pic>
    </p:spTree>
    <p:extLst>
      <p:ext uri="{BB962C8B-B14F-4D97-AF65-F5344CB8AC3E}">
        <p14:creationId xmlns:p14="http://schemas.microsoft.com/office/powerpoint/2010/main" val="147059582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15E986-8670-6FF9-5D72-18F34A4918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Transformer</a:t>
            </a:r>
          </a:p>
        </p:txBody>
      </p:sp>
      <p:pic>
        <p:nvPicPr>
          <p:cNvPr id="5" name="Content Placeholder 4" descr="A diagram of a transformer&#10;&#10;AI-generated content may be incorrect.">
            <a:extLst>
              <a:ext uri="{FF2B5EF4-FFF2-40B4-BE49-F238E27FC236}">
                <a16:creationId xmlns:a16="http://schemas.microsoft.com/office/drawing/2014/main" id="{0F05F324-6BF4-3323-8B51-07C557F974A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1247422" y="1025168"/>
            <a:ext cx="9697156" cy="5284192"/>
          </a:xfrm>
        </p:spPr>
      </p:pic>
    </p:spTree>
    <p:extLst>
      <p:ext uri="{BB962C8B-B14F-4D97-AF65-F5344CB8AC3E}">
        <p14:creationId xmlns:p14="http://schemas.microsoft.com/office/powerpoint/2010/main" val="282051532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4CC6D2-D5E4-E103-5BD5-60DBB052AF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RMSE</a:t>
            </a:r>
          </a:p>
        </p:txBody>
      </p:sp>
      <p:pic>
        <p:nvPicPr>
          <p:cNvPr id="5" name="Content Placeholder 4" descr="A graph of different colored bars&#10;&#10;AI-generated content may be incorrect.">
            <a:extLst>
              <a:ext uri="{FF2B5EF4-FFF2-40B4-BE49-F238E27FC236}">
                <a16:creationId xmlns:a16="http://schemas.microsoft.com/office/drawing/2014/main" id="{D2B9E0FF-9C9A-FCB6-2278-14A57F89878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1325603" y="1201783"/>
            <a:ext cx="9532619" cy="5447211"/>
          </a:xfrm>
        </p:spPr>
      </p:pic>
    </p:spTree>
    <p:extLst>
      <p:ext uri="{BB962C8B-B14F-4D97-AF65-F5344CB8AC3E}">
        <p14:creationId xmlns:p14="http://schemas.microsoft.com/office/powerpoint/2010/main" val="181227807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583FCE-8097-973C-C5C5-6CFA35749C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Training Time</a:t>
            </a:r>
          </a:p>
        </p:txBody>
      </p:sp>
      <p:pic>
        <p:nvPicPr>
          <p:cNvPr id="6" name="Content Placeholder 5" descr="A graph of different colored bars&#10;&#10;AI-generated content may be incorrect.">
            <a:extLst>
              <a:ext uri="{FF2B5EF4-FFF2-40B4-BE49-F238E27FC236}">
                <a16:creationId xmlns:a16="http://schemas.microsoft.com/office/drawing/2014/main" id="{24466FFE-82B6-3BBF-6195-CBFA2AF9AFF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2200407" y="1680898"/>
            <a:ext cx="8589874" cy="4954535"/>
          </a:xfrm>
        </p:spPr>
      </p:pic>
    </p:spTree>
    <p:extLst>
      <p:ext uri="{BB962C8B-B14F-4D97-AF65-F5344CB8AC3E}">
        <p14:creationId xmlns:p14="http://schemas.microsoft.com/office/powerpoint/2010/main" val="132520964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24A558-C7EE-EA8D-3572-57828EA595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/>
            <a:r>
              <a:rPr lang="en-US" dirty="0"/>
              <a:t>Trade-off Analysis: RMSE vs. Training Time</a:t>
            </a:r>
          </a:p>
        </p:txBody>
      </p:sp>
      <p:pic>
        <p:nvPicPr>
          <p:cNvPr id="5" name="Content Placeholder 4" descr="A graph with numbers and symbols&#10;&#10;AI-generated content may be incorrect.">
            <a:extLst>
              <a:ext uri="{FF2B5EF4-FFF2-40B4-BE49-F238E27FC236}">
                <a16:creationId xmlns:a16="http://schemas.microsoft.com/office/drawing/2014/main" id="{9F1B90C8-7F38-376B-6D3C-6AC16E0FB1E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213591" y="1478023"/>
            <a:ext cx="7764818" cy="5146131"/>
          </a:xfrm>
        </p:spPr>
      </p:pic>
    </p:spTree>
    <p:extLst>
      <p:ext uri="{BB962C8B-B14F-4D97-AF65-F5344CB8AC3E}">
        <p14:creationId xmlns:p14="http://schemas.microsoft.com/office/powerpoint/2010/main" val="124099925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accent1">
                <a:lumMod val="67000"/>
              </a:schemeClr>
            </a:gs>
            <a:gs pos="48000">
              <a:schemeClr val="accent1">
                <a:lumMod val="97000"/>
                <a:lumOff val="3000"/>
              </a:schemeClr>
            </a:gs>
            <a:gs pos="100000">
              <a:schemeClr val="accent1">
                <a:lumMod val="60000"/>
                <a:lumOff val="40000"/>
              </a:schemeClr>
            </a:gs>
          </a:gsLst>
          <a:lin ang="162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1BFF795F-1441-53D2-10EC-5C6CB47D2CB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/>
              <a:t>Generalization and Overfitting Assessment</a:t>
            </a:r>
            <a:endParaRPr lang="en-US" dirty="0"/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4B0E7216-3C6F-AA07-1881-890DC5C0491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rtl="1"/>
            <a:r>
              <a:rPr lang="en-US"/>
              <a:t>Train Loss vs. Val Loss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9896135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Content Placeholder 16" descr="A graph of different types of graphs&#10;&#10;AI-generated content may be incorrect.">
            <a:extLst>
              <a:ext uri="{FF2B5EF4-FFF2-40B4-BE49-F238E27FC236}">
                <a16:creationId xmlns:a16="http://schemas.microsoft.com/office/drawing/2014/main" id="{530610E4-1A4B-E961-1DFC-E55B042ACCD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1492601" y="284814"/>
            <a:ext cx="8771955" cy="6038902"/>
          </a:xfrm>
        </p:spPr>
      </p:pic>
    </p:spTree>
    <p:extLst>
      <p:ext uri="{BB962C8B-B14F-4D97-AF65-F5344CB8AC3E}">
        <p14:creationId xmlns:p14="http://schemas.microsoft.com/office/powerpoint/2010/main" val="373694113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 descr="A graph of different types of graphs&#10;&#10;AI-generated content may be incorrect.">
            <a:extLst>
              <a:ext uri="{FF2B5EF4-FFF2-40B4-BE49-F238E27FC236}">
                <a16:creationId xmlns:a16="http://schemas.microsoft.com/office/drawing/2014/main" id="{24065EA8-2AD2-A21A-AEAA-7FE14844DE0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t="71"/>
          <a:stretch>
            <a:fillRect/>
          </a:stretch>
        </p:blipFill>
        <p:spPr>
          <a:xfrm>
            <a:off x="1463041" y="344774"/>
            <a:ext cx="8975876" cy="6172835"/>
          </a:xfrm>
        </p:spPr>
      </p:pic>
    </p:spTree>
    <p:extLst>
      <p:ext uri="{BB962C8B-B14F-4D97-AF65-F5344CB8AC3E}">
        <p14:creationId xmlns:p14="http://schemas.microsoft.com/office/powerpoint/2010/main" val="239229426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 descr="A graph of different types of graphs&#10;&#10;AI-generated content may be incorrect.">
            <a:extLst>
              <a:ext uri="{FF2B5EF4-FFF2-40B4-BE49-F238E27FC236}">
                <a16:creationId xmlns:a16="http://schemas.microsoft.com/office/drawing/2014/main" id="{D53D9470-DB69-0A82-7927-9AE6C569464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t="131"/>
          <a:stretch>
            <a:fillRect/>
          </a:stretch>
        </p:blipFill>
        <p:spPr>
          <a:xfrm>
            <a:off x="1299178" y="317577"/>
            <a:ext cx="9053998" cy="6222845"/>
          </a:xfrm>
        </p:spPr>
      </p:pic>
    </p:spTree>
    <p:extLst>
      <p:ext uri="{BB962C8B-B14F-4D97-AF65-F5344CB8AC3E}">
        <p14:creationId xmlns:p14="http://schemas.microsoft.com/office/powerpoint/2010/main" val="116695382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80B98925-0550-1AFB-C1DC-02792400FB7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Neue Haas Grotesk Text Pro"/>
              <a:ea typeface="+mn-ea"/>
              <a:cs typeface="+mn-cs"/>
            </a:endParaRPr>
          </a:p>
        </p:txBody>
      </p:sp>
      <p:pic>
        <p:nvPicPr>
          <p:cNvPr id="5" name="Picture 4" descr="Magnifying glass and question mark">
            <a:extLst>
              <a:ext uri="{FF2B5EF4-FFF2-40B4-BE49-F238E27FC236}">
                <a16:creationId xmlns:a16="http://schemas.microsoft.com/office/drawing/2014/main" id="{745A763B-8063-1123-4451-CD8E52904F5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20" y="10"/>
            <a:ext cx="12191979" cy="685799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0CCA9273-E74E-A306-1F74-BEF9EDA3050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V="1">
            <a:off x="0" y="0"/>
            <a:ext cx="12192000" cy="2462170"/>
          </a:xfrm>
          <a:prstGeom prst="rect">
            <a:avLst/>
          </a:prstGeom>
          <a:gradFill>
            <a:gsLst>
              <a:gs pos="0">
                <a:schemeClr val="bg1">
                  <a:alpha val="0"/>
                </a:schemeClr>
              </a:gs>
              <a:gs pos="60000">
                <a:schemeClr val="bg1">
                  <a:alpha val="30000"/>
                </a:schemeClr>
              </a:gs>
              <a:gs pos="100000">
                <a:schemeClr val="bg1">
                  <a:alpha val="45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Neue Haas Grotesk Text Pro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E335FA9-C9A0-F501-2DCC-2AF059F1A0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0039" y="255830"/>
            <a:ext cx="8138160" cy="1061981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4400" dirty="0"/>
              <a:t>Q&amp;A</a:t>
            </a:r>
          </a:p>
        </p:txBody>
      </p:sp>
    </p:spTree>
    <p:extLst>
      <p:ext uri="{BB962C8B-B14F-4D97-AF65-F5344CB8AC3E}">
        <p14:creationId xmlns:p14="http://schemas.microsoft.com/office/powerpoint/2010/main" val="305329368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theme/theme1.xml><?xml version="1.0" encoding="utf-8"?>
<a:theme xmlns:a="http://schemas.openxmlformats.org/drawingml/2006/main" name="VanillaVTI">
  <a:themeElements>
    <a:clrScheme name="Vanilla">
      <a:dk1>
        <a:sysClr val="windowText" lastClr="000000"/>
      </a:dk1>
      <a:lt1>
        <a:sysClr val="window" lastClr="FFFFFF"/>
      </a:lt1>
      <a:dk2>
        <a:srgbClr val="2C3932"/>
      </a:dk2>
      <a:lt2>
        <a:srgbClr val="FDF6EA"/>
      </a:lt2>
      <a:accent1>
        <a:srgbClr val="169C9A"/>
      </a:accent1>
      <a:accent2>
        <a:srgbClr val="FA9A42"/>
      </a:accent2>
      <a:accent3>
        <a:srgbClr val="E15C3D"/>
      </a:accent3>
      <a:accent4>
        <a:srgbClr val="E78A67"/>
      </a:accent4>
      <a:accent5>
        <a:srgbClr val="A74B40"/>
      </a:accent5>
      <a:accent6>
        <a:srgbClr val="3D9072"/>
      </a:accent6>
      <a:hlink>
        <a:srgbClr val="169C9A"/>
      </a:hlink>
      <a:folHlink>
        <a:srgbClr val="E15C3D"/>
      </a:folHlink>
    </a:clrScheme>
    <a:fontScheme name="Neue Haas">
      <a:majorFont>
        <a:latin typeface="Neue Haas Grotesk Text Pro"/>
        <a:ea typeface=""/>
        <a:cs typeface=""/>
      </a:majorFont>
      <a:minorFont>
        <a:latin typeface="Neue Haas Grotesk Text Pr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VanillaVTI" id="{54D376C6-1C9B-4C6B-8F3C-483BB307BB05}" vid="{7690D8A9-C071-45EF-BA7A-F7FA9779B11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Parcel</Template>
  <TotalTime>12754</TotalTime>
  <Words>293</Words>
  <Application>Microsoft Macintosh PowerPoint</Application>
  <PresentationFormat>Widescreen</PresentationFormat>
  <Paragraphs>72</Paragraphs>
  <Slides>19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4" baseType="lpstr">
      <vt:lpstr>Aptos</vt:lpstr>
      <vt:lpstr>Arial</vt:lpstr>
      <vt:lpstr>Google Sans Text</vt:lpstr>
      <vt:lpstr>Neue Haas Grotesk Text Pro</vt:lpstr>
      <vt:lpstr>VanillaVTI</vt:lpstr>
      <vt:lpstr>Stock Market analysis with DL</vt:lpstr>
      <vt:lpstr>Project Goal</vt:lpstr>
      <vt:lpstr>Dataset</vt:lpstr>
      <vt:lpstr>DataSet</vt:lpstr>
      <vt:lpstr>Feature Engineering :</vt:lpstr>
      <vt:lpstr>Technical Indicators Overview</vt:lpstr>
      <vt:lpstr>The models</vt:lpstr>
      <vt:lpstr>Recurrent        NN </vt:lpstr>
      <vt:lpstr>The LSTM (Long Short-Term Memory)</vt:lpstr>
      <vt:lpstr>The GRU (Gated Recurrent Unit)</vt:lpstr>
      <vt:lpstr>Transformer</vt:lpstr>
      <vt:lpstr>RMSE</vt:lpstr>
      <vt:lpstr>Training Time</vt:lpstr>
      <vt:lpstr>Trade-off Analysis: RMSE vs. Training Time</vt:lpstr>
      <vt:lpstr>Generalization and Overfitting Assessment</vt:lpstr>
      <vt:lpstr>PowerPoint Presentation</vt:lpstr>
      <vt:lpstr>PowerPoint Presentation</vt:lpstr>
      <vt:lpstr>PowerPoint Presentation</vt:lpstr>
      <vt:lpstr>Q&amp;A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Roshanak Behrouz</dc:creator>
  <cp:lastModifiedBy>Roshanak Behrouz</cp:lastModifiedBy>
  <cp:revision>28</cp:revision>
  <dcterms:created xsi:type="dcterms:W3CDTF">2025-11-19T14:40:29Z</dcterms:created>
  <dcterms:modified xsi:type="dcterms:W3CDTF">2026-02-26T20:42:30Z</dcterms:modified>
</cp:coreProperties>
</file>