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2"/>
  </p:notesMasterIdLst>
  <p:sldIdLst>
    <p:sldId id="256" r:id="rId2"/>
    <p:sldId id="289" r:id="rId3"/>
    <p:sldId id="272" r:id="rId4"/>
    <p:sldId id="280" r:id="rId5"/>
    <p:sldId id="273" r:id="rId6"/>
    <p:sldId id="274" r:id="rId7"/>
    <p:sldId id="291" r:id="rId8"/>
    <p:sldId id="292" r:id="rId9"/>
    <p:sldId id="264" r:id="rId10"/>
    <p:sldId id="282" r:id="rId11"/>
    <p:sldId id="283" r:id="rId12"/>
    <p:sldId id="294" r:id="rId13"/>
    <p:sldId id="284" r:id="rId14"/>
    <p:sldId id="285" r:id="rId15"/>
    <p:sldId id="302" r:id="rId16"/>
    <p:sldId id="297" r:id="rId17"/>
    <p:sldId id="298" r:id="rId18"/>
    <p:sldId id="301" r:id="rId19"/>
    <p:sldId id="295" r:id="rId20"/>
    <p:sldId id="296" r:id="rId21"/>
    <p:sldId id="267" r:id="rId22"/>
    <p:sldId id="286" r:id="rId23"/>
    <p:sldId id="308" r:id="rId24"/>
    <p:sldId id="309" r:id="rId25"/>
    <p:sldId id="310" r:id="rId26"/>
    <p:sldId id="312" r:id="rId27"/>
    <p:sldId id="313" r:id="rId28"/>
    <p:sldId id="314" r:id="rId29"/>
    <p:sldId id="315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81"/>
    <p:restoredTop sz="68615"/>
  </p:normalViewPr>
  <p:slideViewPr>
    <p:cSldViewPr snapToGrid="0">
      <p:cViewPr varScale="1">
        <p:scale>
          <a:sx n="80" d="100"/>
          <a:sy n="80" d="100"/>
        </p:scale>
        <p:origin x="1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067AEB-880C-4F67-A196-29215FF663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47CC84-E54D-4969-8472-C0615B08AA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</a:t>
          </a:r>
          <a:r>
            <a:rPr lang="en-US" b="1"/>
            <a:t>MinMaxScaler</a:t>
          </a:r>
          <a:r>
            <a:rPr lang="en-US"/>
            <a:t> to scale data between 0 and 1. This is crucial for neural networks to converge faster.</a:t>
          </a:r>
        </a:p>
      </dgm:t>
    </dgm:pt>
    <dgm:pt modelId="{167E2D4A-E3D9-4B1C-A5E9-C58FC4976712}" type="parTrans" cxnId="{9E5A20AE-78B8-4B42-91BD-F3C513BBA758}">
      <dgm:prSet/>
      <dgm:spPr/>
      <dgm:t>
        <a:bodyPr/>
        <a:lstStyle/>
        <a:p>
          <a:endParaRPr lang="en-US"/>
        </a:p>
      </dgm:t>
    </dgm:pt>
    <dgm:pt modelId="{87F958EB-6573-4BD2-95E8-BC46CD4C29E0}" type="sibTrans" cxnId="{9E5A20AE-78B8-4B42-91BD-F3C513BBA758}">
      <dgm:prSet/>
      <dgm:spPr/>
      <dgm:t>
        <a:bodyPr/>
        <a:lstStyle/>
        <a:p>
          <a:endParaRPr lang="en-US"/>
        </a:p>
      </dgm:t>
    </dgm:pt>
    <dgm:pt modelId="{0A2B4EDE-7531-40BF-BE2D-DC2F8E3F5D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fits the scaler </a:t>
          </a:r>
          <a:r>
            <a:rPr lang="en-US" i="1"/>
            <a:t>only</a:t>
          </a:r>
          <a:r>
            <a:rPr lang="en-US"/>
            <a:t> on the training set (first 80%) to prevent "data leakage" (peeking into the future).</a:t>
          </a:r>
        </a:p>
      </dgm:t>
    </dgm:pt>
    <dgm:pt modelId="{E357EDE5-F7B9-4E99-B297-C53BFC16AAC4}" type="parTrans" cxnId="{0F98CA62-A223-4405-A97E-C8D508A4D543}">
      <dgm:prSet/>
      <dgm:spPr/>
      <dgm:t>
        <a:bodyPr/>
        <a:lstStyle/>
        <a:p>
          <a:endParaRPr lang="en-US"/>
        </a:p>
      </dgm:t>
    </dgm:pt>
    <dgm:pt modelId="{6CDEE98B-AB5C-4590-B52D-681582CBADD1}" type="sibTrans" cxnId="{0F98CA62-A223-4405-A97E-C8D508A4D543}">
      <dgm:prSet/>
      <dgm:spPr/>
      <dgm:t>
        <a:bodyPr/>
        <a:lstStyle/>
        <a:p>
          <a:endParaRPr lang="en-US"/>
        </a:p>
      </dgm:t>
    </dgm:pt>
    <dgm:pt modelId="{DD0B17FB-4CF0-49A5-9600-4D16003BACEA}" type="pres">
      <dgm:prSet presAssocID="{30067AEB-880C-4F67-A196-29215FF663A2}" presName="root" presStyleCnt="0">
        <dgm:presLayoutVars>
          <dgm:dir/>
          <dgm:resizeHandles val="exact"/>
        </dgm:presLayoutVars>
      </dgm:prSet>
      <dgm:spPr/>
    </dgm:pt>
    <dgm:pt modelId="{CE259D35-BEED-4C87-AF88-B72D1DC80C6E}" type="pres">
      <dgm:prSet presAssocID="{DC47CC84-E54D-4969-8472-C0615B08AAD6}" presName="compNode" presStyleCnt="0"/>
      <dgm:spPr/>
    </dgm:pt>
    <dgm:pt modelId="{F3C97601-6C39-4310-804C-0636D1381911}" type="pres">
      <dgm:prSet presAssocID="{DC47CC84-E54D-4969-8472-C0615B08AAD6}" presName="bgRect" presStyleLbl="bgShp" presStyleIdx="0" presStyleCnt="2"/>
      <dgm:spPr/>
    </dgm:pt>
    <dgm:pt modelId="{120FF965-37F8-4B25-9057-EA876787BFD4}" type="pres">
      <dgm:prSet presAssocID="{DC47CC84-E54D-4969-8472-C0615B08AAD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90217A9-A9BC-42C5-9D01-86AC692F5136}" type="pres">
      <dgm:prSet presAssocID="{DC47CC84-E54D-4969-8472-C0615B08AAD6}" presName="spaceRect" presStyleCnt="0"/>
      <dgm:spPr/>
    </dgm:pt>
    <dgm:pt modelId="{DC1714CD-1294-4D8F-88E2-4E13C7E8760B}" type="pres">
      <dgm:prSet presAssocID="{DC47CC84-E54D-4969-8472-C0615B08AAD6}" presName="parTx" presStyleLbl="revTx" presStyleIdx="0" presStyleCnt="2">
        <dgm:presLayoutVars>
          <dgm:chMax val="0"/>
          <dgm:chPref val="0"/>
        </dgm:presLayoutVars>
      </dgm:prSet>
      <dgm:spPr/>
    </dgm:pt>
    <dgm:pt modelId="{66CFEEB5-BD8B-4C14-89EA-134C3DCCA842}" type="pres">
      <dgm:prSet presAssocID="{87F958EB-6573-4BD2-95E8-BC46CD4C29E0}" presName="sibTrans" presStyleCnt="0"/>
      <dgm:spPr/>
    </dgm:pt>
    <dgm:pt modelId="{4D46A698-E187-4931-B045-2B8F86373D06}" type="pres">
      <dgm:prSet presAssocID="{0A2B4EDE-7531-40BF-BE2D-DC2F8E3F5D7B}" presName="compNode" presStyleCnt="0"/>
      <dgm:spPr/>
    </dgm:pt>
    <dgm:pt modelId="{D875FC3D-C790-43AA-AF2E-E7BB56426E3C}" type="pres">
      <dgm:prSet presAssocID="{0A2B4EDE-7531-40BF-BE2D-DC2F8E3F5D7B}" presName="bgRect" presStyleLbl="bgShp" presStyleIdx="1" presStyleCnt="2"/>
      <dgm:spPr/>
    </dgm:pt>
    <dgm:pt modelId="{730DF78F-DA16-4388-BA70-5A6900D014E3}" type="pres">
      <dgm:prSet presAssocID="{0A2B4EDE-7531-40BF-BE2D-DC2F8E3F5D7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5D1600B4-33DF-4B3E-BD12-D3365812D965}" type="pres">
      <dgm:prSet presAssocID="{0A2B4EDE-7531-40BF-BE2D-DC2F8E3F5D7B}" presName="spaceRect" presStyleCnt="0"/>
      <dgm:spPr/>
    </dgm:pt>
    <dgm:pt modelId="{3A2558FE-2C54-4202-9C1D-B6D414BB1272}" type="pres">
      <dgm:prSet presAssocID="{0A2B4EDE-7531-40BF-BE2D-DC2F8E3F5D7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BBB5A2B-935B-4241-9C78-D01D2202587B}" type="presOf" srcId="{0A2B4EDE-7531-40BF-BE2D-DC2F8E3F5D7B}" destId="{3A2558FE-2C54-4202-9C1D-B6D414BB1272}" srcOrd="0" destOrd="0" presId="urn:microsoft.com/office/officeart/2018/2/layout/IconVerticalSolidList"/>
    <dgm:cxn modelId="{0F98CA62-A223-4405-A97E-C8D508A4D543}" srcId="{30067AEB-880C-4F67-A196-29215FF663A2}" destId="{0A2B4EDE-7531-40BF-BE2D-DC2F8E3F5D7B}" srcOrd="1" destOrd="0" parTransId="{E357EDE5-F7B9-4E99-B297-C53BFC16AAC4}" sibTransId="{6CDEE98B-AB5C-4590-B52D-681582CBADD1}"/>
    <dgm:cxn modelId="{9E5A20AE-78B8-4B42-91BD-F3C513BBA758}" srcId="{30067AEB-880C-4F67-A196-29215FF663A2}" destId="{DC47CC84-E54D-4969-8472-C0615B08AAD6}" srcOrd="0" destOrd="0" parTransId="{167E2D4A-E3D9-4B1C-A5E9-C58FC4976712}" sibTransId="{87F958EB-6573-4BD2-95E8-BC46CD4C29E0}"/>
    <dgm:cxn modelId="{470221BE-893D-49E9-AA2C-CE62A520C04A}" type="presOf" srcId="{30067AEB-880C-4F67-A196-29215FF663A2}" destId="{DD0B17FB-4CF0-49A5-9600-4D16003BACEA}" srcOrd="0" destOrd="0" presId="urn:microsoft.com/office/officeart/2018/2/layout/IconVerticalSolidList"/>
    <dgm:cxn modelId="{23B783C7-DDD1-44D8-B535-A8F0C12E6FD3}" type="presOf" srcId="{DC47CC84-E54D-4969-8472-C0615B08AAD6}" destId="{DC1714CD-1294-4D8F-88E2-4E13C7E8760B}" srcOrd="0" destOrd="0" presId="urn:microsoft.com/office/officeart/2018/2/layout/IconVerticalSolidList"/>
    <dgm:cxn modelId="{2E7F34D0-EE2D-4E74-AAB1-56EC421E002D}" type="presParOf" srcId="{DD0B17FB-4CF0-49A5-9600-4D16003BACEA}" destId="{CE259D35-BEED-4C87-AF88-B72D1DC80C6E}" srcOrd="0" destOrd="0" presId="urn:microsoft.com/office/officeart/2018/2/layout/IconVerticalSolidList"/>
    <dgm:cxn modelId="{882BA88A-C949-4261-86D2-EA8DBE0C8582}" type="presParOf" srcId="{CE259D35-BEED-4C87-AF88-B72D1DC80C6E}" destId="{F3C97601-6C39-4310-804C-0636D1381911}" srcOrd="0" destOrd="0" presId="urn:microsoft.com/office/officeart/2018/2/layout/IconVerticalSolidList"/>
    <dgm:cxn modelId="{E1EDCA62-DF84-4DBC-91A9-3A10608D4808}" type="presParOf" srcId="{CE259D35-BEED-4C87-AF88-B72D1DC80C6E}" destId="{120FF965-37F8-4B25-9057-EA876787BFD4}" srcOrd="1" destOrd="0" presId="urn:microsoft.com/office/officeart/2018/2/layout/IconVerticalSolidList"/>
    <dgm:cxn modelId="{723FF744-A246-4394-A451-BC9AC29B0597}" type="presParOf" srcId="{CE259D35-BEED-4C87-AF88-B72D1DC80C6E}" destId="{E90217A9-A9BC-42C5-9D01-86AC692F5136}" srcOrd="2" destOrd="0" presId="urn:microsoft.com/office/officeart/2018/2/layout/IconVerticalSolidList"/>
    <dgm:cxn modelId="{2A4679B7-9202-4CAC-9E02-098DEF915578}" type="presParOf" srcId="{CE259D35-BEED-4C87-AF88-B72D1DC80C6E}" destId="{DC1714CD-1294-4D8F-88E2-4E13C7E8760B}" srcOrd="3" destOrd="0" presId="urn:microsoft.com/office/officeart/2018/2/layout/IconVerticalSolidList"/>
    <dgm:cxn modelId="{A9BC7CC4-8A27-4CA0-A840-B166EAAD6B78}" type="presParOf" srcId="{DD0B17FB-4CF0-49A5-9600-4D16003BACEA}" destId="{66CFEEB5-BD8B-4C14-89EA-134C3DCCA842}" srcOrd="1" destOrd="0" presId="urn:microsoft.com/office/officeart/2018/2/layout/IconVerticalSolidList"/>
    <dgm:cxn modelId="{FFF3FF6E-3C85-45BC-9B61-CFC25D643FF5}" type="presParOf" srcId="{DD0B17FB-4CF0-49A5-9600-4D16003BACEA}" destId="{4D46A698-E187-4931-B045-2B8F86373D06}" srcOrd="2" destOrd="0" presId="urn:microsoft.com/office/officeart/2018/2/layout/IconVerticalSolidList"/>
    <dgm:cxn modelId="{ADA249AB-AC44-4FAE-9B3D-F6971CC9C742}" type="presParOf" srcId="{4D46A698-E187-4931-B045-2B8F86373D06}" destId="{D875FC3D-C790-43AA-AF2E-E7BB56426E3C}" srcOrd="0" destOrd="0" presId="urn:microsoft.com/office/officeart/2018/2/layout/IconVerticalSolidList"/>
    <dgm:cxn modelId="{09C3ADE5-A2E2-4F31-86DA-20B106504932}" type="presParOf" srcId="{4D46A698-E187-4931-B045-2B8F86373D06}" destId="{730DF78F-DA16-4388-BA70-5A6900D014E3}" srcOrd="1" destOrd="0" presId="urn:microsoft.com/office/officeart/2018/2/layout/IconVerticalSolidList"/>
    <dgm:cxn modelId="{D1661D6F-F18B-45F4-A753-8243E045094E}" type="presParOf" srcId="{4D46A698-E187-4931-B045-2B8F86373D06}" destId="{5D1600B4-33DF-4B3E-BD12-D3365812D965}" srcOrd="2" destOrd="0" presId="urn:microsoft.com/office/officeart/2018/2/layout/IconVerticalSolidList"/>
    <dgm:cxn modelId="{7EFD2A01-3A51-41E4-BC81-714204EE3B27}" type="presParOf" srcId="{4D46A698-E187-4931-B045-2B8F86373D06}" destId="{3A2558FE-2C54-4202-9C1D-B6D414BB12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BF7D06-F8B2-4081-B591-87D8CAA6817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6000B1-EC6C-455F-99B2-F6D9645094B4}">
      <dgm:prSet/>
      <dgm:spPr/>
      <dgm:t>
        <a:bodyPr/>
        <a:lstStyle/>
        <a:p>
          <a:r>
            <a:rPr lang="en-US"/>
            <a:t>Recurrent Models</a:t>
          </a:r>
        </a:p>
      </dgm:t>
    </dgm:pt>
    <dgm:pt modelId="{532FFE6C-C74A-42E5-AFA9-4F81E7714EA1}" type="parTrans" cxnId="{85858216-9FF9-4C6E-BDB3-3AEE4C7F6FBA}">
      <dgm:prSet/>
      <dgm:spPr/>
      <dgm:t>
        <a:bodyPr/>
        <a:lstStyle/>
        <a:p>
          <a:endParaRPr lang="en-US"/>
        </a:p>
      </dgm:t>
    </dgm:pt>
    <dgm:pt modelId="{51839B9E-A199-4A74-B5BD-C08FCDB69B67}" type="sibTrans" cxnId="{85858216-9FF9-4C6E-BDB3-3AEE4C7F6FBA}">
      <dgm:prSet/>
      <dgm:spPr/>
      <dgm:t>
        <a:bodyPr/>
        <a:lstStyle/>
        <a:p>
          <a:endParaRPr lang="en-US"/>
        </a:p>
      </dgm:t>
    </dgm:pt>
    <dgm:pt modelId="{F7E5E448-2A35-4EB1-AC6E-C491873DE84F}">
      <dgm:prSet/>
      <dgm:spPr/>
      <dgm:t>
        <a:bodyPr/>
        <a:lstStyle/>
        <a:p>
          <a:r>
            <a:rPr lang="en-US"/>
            <a:t>Transformers</a:t>
          </a:r>
        </a:p>
      </dgm:t>
    </dgm:pt>
    <dgm:pt modelId="{4398B43C-3211-4D7E-B458-2F0B6D3BA336}" type="parTrans" cxnId="{368B752A-503C-4732-808F-91464314C1C6}">
      <dgm:prSet/>
      <dgm:spPr/>
      <dgm:t>
        <a:bodyPr/>
        <a:lstStyle/>
        <a:p>
          <a:endParaRPr lang="en-US"/>
        </a:p>
      </dgm:t>
    </dgm:pt>
    <dgm:pt modelId="{E9794967-F0D4-4946-AF3C-0090F0657AD9}" type="sibTrans" cxnId="{368B752A-503C-4732-808F-91464314C1C6}">
      <dgm:prSet/>
      <dgm:spPr/>
      <dgm:t>
        <a:bodyPr/>
        <a:lstStyle/>
        <a:p>
          <a:endParaRPr lang="en-US"/>
        </a:p>
      </dgm:t>
    </dgm:pt>
    <dgm:pt modelId="{B96F31C1-A255-6145-A84F-3EA754F2C681}" type="pres">
      <dgm:prSet presAssocID="{90BF7D06-F8B2-4081-B591-87D8CAA681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681643F-8980-4449-A55A-ECC8A807EFDE}" type="pres">
      <dgm:prSet presAssocID="{DE6000B1-EC6C-455F-99B2-F6D9645094B4}" presName="hierRoot1" presStyleCnt="0"/>
      <dgm:spPr/>
    </dgm:pt>
    <dgm:pt modelId="{934D370F-39C4-0C4B-9891-3D224C281F14}" type="pres">
      <dgm:prSet presAssocID="{DE6000B1-EC6C-455F-99B2-F6D9645094B4}" presName="composite" presStyleCnt="0"/>
      <dgm:spPr/>
    </dgm:pt>
    <dgm:pt modelId="{724E1D0B-A7BB-D647-A87B-5D9D1400BE70}" type="pres">
      <dgm:prSet presAssocID="{DE6000B1-EC6C-455F-99B2-F6D9645094B4}" presName="background" presStyleLbl="node0" presStyleIdx="0" presStyleCnt="2"/>
      <dgm:spPr/>
    </dgm:pt>
    <dgm:pt modelId="{670B8905-DE3D-2141-A537-D19347797774}" type="pres">
      <dgm:prSet presAssocID="{DE6000B1-EC6C-455F-99B2-F6D9645094B4}" presName="text" presStyleLbl="fgAcc0" presStyleIdx="0" presStyleCnt="2">
        <dgm:presLayoutVars>
          <dgm:chPref val="3"/>
        </dgm:presLayoutVars>
      </dgm:prSet>
      <dgm:spPr/>
    </dgm:pt>
    <dgm:pt modelId="{598C07CD-AAA8-0641-B1EF-6BCA9C086382}" type="pres">
      <dgm:prSet presAssocID="{DE6000B1-EC6C-455F-99B2-F6D9645094B4}" presName="hierChild2" presStyleCnt="0"/>
      <dgm:spPr/>
    </dgm:pt>
    <dgm:pt modelId="{C6021572-A1FE-3243-8FD1-0F2FE3175FA8}" type="pres">
      <dgm:prSet presAssocID="{F7E5E448-2A35-4EB1-AC6E-C491873DE84F}" presName="hierRoot1" presStyleCnt="0"/>
      <dgm:spPr/>
    </dgm:pt>
    <dgm:pt modelId="{BA7EBE04-96D4-AA45-B28B-4A57F0D6655E}" type="pres">
      <dgm:prSet presAssocID="{F7E5E448-2A35-4EB1-AC6E-C491873DE84F}" presName="composite" presStyleCnt="0"/>
      <dgm:spPr/>
    </dgm:pt>
    <dgm:pt modelId="{E2E521B6-28CB-9E4A-99A1-1F7C41E841A5}" type="pres">
      <dgm:prSet presAssocID="{F7E5E448-2A35-4EB1-AC6E-C491873DE84F}" presName="background" presStyleLbl="node0" presStyleIdx="1" presStyleCnt="2"/>
      <dgm:spPr/>
    </dgm:pt>
    <dgm:pt modelId="{01D3D384-201B-5A4D-AA13-C8B68FE9B9D1}" type="pres">
      <dgm:prSet presAssocID="{F7E5E448-2A35-4EB1-AC6E-C491873DE84F}" presName="text" presStyleLbl="fgAcc0" presStyleIdx="1" presStyleCnt="2">
        <dgm:presLayoutVars>
          <dgm:chPref val="3"/>
        </dgm:presLayoutVars>
      </dgm:prSet>
      <dgm:spPr/>
    </dgm:pt>
    <dgm:pt modelId="{2DDB2CA3-AFF3-5B44-9A6D-0EAEEBB2B457}" type="pres">
      <dgm:prSet presAssocID="{F7E5E448-2A35-4EB1-AC6E-C491873DE84F}" presName="hierChild2" presStyleCnt="0"/>
      <dgm:spPr/>
    </dgm:pt>
  </dgm:ptLst>
  <dgm:cxnLst>
    <dgm:cxn modelId="{85858216-9FF9-4C6E-BDB3-3AEE4C7F6FBA}" srcId="{90BF7D06-F8B2-4081-B591-87D8CAA68173}" destId="{DE6000B1-EC6C-455F-99B2-F6D9645094B4}" srcOrd="0" destOrd="0" parTransId="{532FFE6C-C74A-42E5-AFA9-4F81E7714EA1}" sibTransId="{51839B9E-A199-4A74-B5BD-C08FCDB69B67}"/>
    <dgm:cxn modelId="{368B752A-503C-4732-808F-91464314C1C6}" srcId="{90BF7D06-F8B2-4081-B591-87D8CAA68173}" destId="{F7E5E448-2A35-4EB1-AC6E-C491873DE84F}" srcOrd="1" destOrd="0" parTransId="{4398B43C-3211-4D7E-B458-2F0B6D3BA336}" sibTransId="{E9794967-F0D4-4946-AF3C-0090F0657AD9}"/>
    <dgm:cxn modelId="{89329130-5B42-8F44-9C4C-64B75AC0A338}" type="presOf" srcId="{DE6000B1-EC6C-455F-99B2-F6D9645094B4}" destId="{670B8905-DE3D-2141-A537-D19347797774}" srcOrd="0" destOrd="0" presId="urn:microsoft.com/office/officeart/2005/8/layout/hierarchy1"/>
    <dgm:cxn modelId="{6A2A1FAC-5968-7841-85AD-0E38A73E5CD4}" type="presOf" srcId="{F7E5E448-2A35-4EB1-AC6E-C491873DE84F}" destId="{01D3D384-201B-5A4D-AA13-C8B68FE9B9D1}" srcOrd="0" destOrd="0" presId="urn:microsoft.com/office/officeart/2005/8/layout/hierarchy1"/>
    <dgm:cxn modelId="{DF1E87E3-5D70-EE4C-B1C7-B63D2B52FBA4}" type="presOf" srcId="{90BF7D06-F8B2-4081-B591-87D8CAA68173}" destId="{B96F31C1-A255-6145-A84F-3EA754F2C681}" srcOrd="0" destOrd="0" presId="urn:microsoft.com/office/officeart/2005/8/layout/hierarchy1"/>
    <dgm:cxn modelId="{3B62ABBA-03DF-E542-BB4B-F591B25825F3}" type="presParOf" srcId="{B96F31C1-A255-6145-A84F-3EA754F2C681}" destId="{5681643F-8980-4449-A55A-ECC8A807EFDE}" srcOrd="0" destOrd="0" presId="urn:microsoft.com/office/officeart/2005/8/layout/hierarchy1"/>
    <dgm:cxn modelId="{9C0845EE-6D2D-1E41-9A02-54F2DFF47F85}" type="presParOf" srcId="{5681643F-8980-4449-A55A-ECC8A807EFDE}" destId="{934D370F-39C4-0C4B-9891-3D224C281F14}" srcOrd="0" destOrd="0" presId="urn:microsoft.com/office/officeart/2005/8/layout/hierarchy1"/>
    <dgm:cxn modelId="{99E54C55-D6E6-A248-873E-B1F268866FE0}" type="presParOf" srcId="{934D370F-39C4-0C4B-9891-3D224C281F14}" destId="{724E1D0B-A7BB-D647-A87B-5D9D1400BE70}" srcOrd="0" destOrd="0" presId="urn:microsoft.com/office/officeart/2005/8/layout/hierarchy1"/>
    <dgm:cxn modelId="{CEBDFB5F-43BF-724A-B15E-47C39F6C3072}" type="presParOf" srcId="{934D370F-39C4-0C4B-9891-3D224C281F14}" destId="{670B8905-DE3D-2141-A537-D19347797774}" srcOrd="1" destOrd="0" presId="urn:microsoft.com/office/officeart/2005/8/layout/hierarchy1"/>
    <dgm:cxn modelId="{D4946505-8619-1A4C-A73F-C724E1C10BDB}" type="presParOf" srcId="{5681643F-8980-4449-A55A-ECC8A807EFDE}" destId="{598C07CD-AAA8-0641-B1EF-6BCA9C086382}" srcOrd="1" destOrd="0" presId="urn:microsoft.com/office/officeart/2005/8/layout/hierarchy1"/>
    <dgm:cxn modelId="{B877BDCD-9A78-0049-8FD9-059DC186AD17}" type="presParOf" srcId="{B96F31C1-A255-6145-A84F-3EA754F2C681}" destId="{C6021572-A1FE-3243-8FD1-0F2FE3175FA8}" srcOrd="1" destOrd="0" presId="urn:microsoft.com/office/officeart/2005/8/layout/hierarchy1"/>
    <dgm:cxn modelId="{00DF3461-D2AD-8649-A197-0288F3AFEFEF}" type="presParOf" srcId="{C6021572-A1FE-3243-8FD1-0F2FE3175FA8}" destId="{BA7EBE04-96D4-AA45-B28B-4A57F0D6655E}" srcOrd="0" destOrd="0" presId="urn:microsoft.com/office/officeart/2005/8/layout/hierarchy1"/>
    <dgm:cxn modelId="{45335BCC-F457-6D46-A7FF-F66596F5A3D8}" type="presParOf" srcId="{BA7EBE04-96D4-AA45-B28B-4A57F0D6655E}" destId="{E2E521B6-28CB-9E4A-99A1-1F7C41E841A5}" srcOrd="0" destOrd="0" presId="urn:microsoft.com/office/officeart/2005/8/layout/hierarchy1"/>
    <dgm:cxn modelId="{1600A1A2-0CBF-3B41-B68F-10AF27F8F4E2}" type="presParOf" srcId="{BA7EBE04-96D4-AA45-B28B-4A57F0D6655E}" destId="{01D3D384-201B-5A4D-AA13-C8B68FE9B9D1}" srcOrd="1" destOrd="0" presId="urn:microsoft.com/office/officeart/2005/8/layout/hierarchy1"/>
    <dgm:cxn modelId="{687CA214-40E6-8644-8B8C-02C4F9ACA843}" type="presParOf" srcId="{C6021572-A1FE-3243-8FD1-0F2FE3175FA8}" destId="{2DDB2CA3-AFF3-5B44-9A6D-0EAEEBB2B4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16D548-103F-43DC-985A-D1BBEE2F93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E833123-60F9-4195-BF86-C458F29D9A2E}">
      <dgm:prSet/>
      <dgm:spPr/>
      <dgm:t>
        <a:bodyPr/>
        <a:lstStyle/>
        <a:p>
          <a:r>
            <a:rPr lang="en-US" b="1" dirty="0"/>
            <a:t>RNN :</a:t>
          </a:r>
          <a:r>
            <a:rPr lang="en-US" dirty="0"/>
            <a:t> The simplest form. It suffers from "short-term memory" issues where it forgets data from the beginning of long sequences.</a:t>
          </a:r>
        </a:p>
      </dgm:t>
    </dgm:pt>
    <dgm:pt modelId="{9C7A499C-7C21-46A0-B495-ABC7189755AB}" type="parTrans" cxnId="{FD4B089C-1653-4C2D-BAC3-8F88869AB683}">
      <dgm:prSet/>
      <dgm:spPr/>
      <dgm:t>
        <a:bodyPr/>
        <a:lstStyle/>
        <a:p>
          <a:endParaRPr lang="en-US"/>
        </a:p>
      </dgm:t>
    </dgm:pt>
    <dgm:pt modelId="{3E60363D-3330-40DE-B773-E42E3012FF2C}" type="sibTrans" cxnId="{FD4B089C-1653-4C2D-BAC3-8F88869AB683}">
      <dgm:prSet/>
      <dgm:spPr/>
      <dgm:t>
        <a:bodyPr/>
        <a:lstStyle/>
        <a:p>
          <a:endParaRPr lang="en-US"/>
        </a:p>
      </dgm:t>
    </dgm:pt>
    <dgm:pt modelId="{499C6A8B-CA5A-4AE6-92F2-99B5B8A04B28}">
      <dgm:prSet/>
      <dgm:spPr/>
      <dgm:t>
        <a:bodyPr/>
        <a:lstStyle/>
        <a:p>
          <a:r>
            <a:rPr lang="en-US" b="1"/>
            <a:t>LSTM :</a:t>
          </a:r>
          <a:r>
            <a:rPr lang="en-US"/>
            <a:t> Adds a "forget gate" and a "cell state" to handle long-term dependencies, fixing the RNN's memory loss.</a:t>
          </a:r>
        </a:p>
      </dgm:t>
    </dgm:pt>
    <dgm:pt modelId="{2F95CA2B-981C-412E-804A-E693EDF76D7E}" type="parTrans" cxnId="{8E900104-0D90-4F13-8BE9-A394D42B95D9}">
      <dgm:prSet/>
      <dgm:spPr/>
      <dgm:t>
        <a:bodyPr/>
        <a:lstStyle/>
        <a:p>
          <a:endParaRPr lang="en-US"/>
        </a:p>
      </dgm:t>
    </dgm:pt>
    <dgm:pt modelId="{03F86B46-1749-401B-B4C0-E7ABAC79DA27}" type="sibTrans" cxnId="{8E900104-0D90-4F13-8BE9-A394D42B95D9}">
      <dgm:prSet/>
      <dgm:spPr/>
      <dgm:t>
        <a:bodyPr/>
        <a:lstStyle/>
        <a:p>
          <a:endParaRPr lang="en-US"/>
        </a:p>
      </dgm:t>
    </dgm:pt>
    <dgm:pt modelId="{5CCAF0DE-2A02-4BE8-B320-5F8F8C79EDAC}">
      <dgm:prSet/>
      <dgm:spPr/>
      <dgm:t>
        <a:bodyPr/>
        <a:lstStyle/>
        <a:p>
          <a:r>
            <a:rPr lang="en-US" b="1"/>
            <a:t>GRU :</a:t>
          </a:r>
          <a:r>
            <a:rPr lang="en-US"/>
            <a:t> A simplified version of LSTM with fewer parameters, often faster to train but equally effective.</a:t>
          </a:r>
        </a:p>
      </dgm:t>
    </dgm:pt>
    <dgm:pt modelId="{CC3B883E-7393-4DFD-918B-099C6836ED87}" type="parTrans" cxnId="{612931F7-F0EA-4268-94D0-1C98C85CB56A}">
      <dgm:prSet/>
      <dgm:spPr/>
      <dgm:t>
        <a:bodyPr/>
        <a:lstStyle/>
        <a:p>
          <a:endParaRPr lang="en-US"/>
        </a:p>
      </dgm:t>
    </dgm:pt>
    <dgm:pt modelId="{5DCCEA81-408B-496C-8D93-F2E56D65F93E}" type="sibTrans" cxnId="{612931F7-F0EA-4268-94D0-1C98C85CB56A}">
      <dgm:prSet/>
      <dgm:spPr/>
      <dgm:t>
        <a:bodyPr/>
        <a:lstStyle/>
        <a:p>
          <a:endParaRPr lang="en-US"/>
        </a:p>
      </dgm:t>
    </dgm:pt>
    <dgm:pt modelId="{A6EB7E3F-3A83-7149-85A9-B32EEC572F05}" type="pres">
      <dgm:prSet presAssocID="{DD16D548-103F-43DC-985A-D1BBEE2F93BF}" presName="linear" presStyleCnt="0">
        <dgm:presLayoutVars>
          <dgm:animLvl val="lvl"/>
          <dgm:resizeHandles val="exact"/>
        </dgm:presLayoutVars>
      </dgm:prSet>
      <dgm:spPr/>
    </dgm:pt>
    <dgm:pt modelId="{E5989978-893E-5447-9264-659C7D706D8B}" type="pres">
      <dgm:prSet presAssocID="{4E833123-60F9-4195-BF86-C458F29D9A2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2B1991-9FAA-1446-9B1D-A6C06678BD45}" type="pres">
      <dgm:prSet presAssocID="{3E60363D-3330-40DE-B773-E42E3012FF2C}" presName="spacer" presStyleCnt="0"/>
      <dgm:spPr/>
    </dgm:pt>
    <dgm:pt modelId="{66C07808-8613-3246-BF31-735B3D87A9D2}" type="pres">
      <dgm:prSet presAssocID="{499C6A8B-CA5A-4AE6-92F2-99B5B8A04B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4AF6FFA-E473-404B-8948-57DDA6361C94}" type="pres">
      <dgm:prSet presAssocID="{03F86B46-1749-401B-B4C0-E7ABAC79DA27}" presName="spacer" presStyleCnt="0"/>
      <dgm:spPr/>
    </dgm:pt>
    <dgm:pt modelId="{3B55E6A5-1A7A-E44D-B14A-861CE629C2C6}" type="pres">
      <dgm:prSet presAssocID="{5CCAF0DE-2A02-4BE8-B320-5F8F8C79EDA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E900104-0D90-4F13-8BE9-A394D42B95D9}" srcId="{DD16D548-103F-43DC-985A-D1BBEE2F93BF}" destId="{499C6A8B-CA5A-4AE6-92F2-99B5B8A04B28}" srcOrd="1" destOrd="0" parTransId="{2F95CA2B-981C-412E-804A-E693EDF76D7E}" sibTransId="{03F86B46-1749-401B-B4C0-E7ABAC79DA27}"/>
    <dgm:cxn modelId="{B9D69718-A476-0647-8400-AFBC9D82902A}" type="presOf" srcId="{5CCAF0DE-2A02-4BE8-B320-5F8F8C79EDAC}" destId="{3B55E6A5-1A7A-E44D-B14A-861CE629C2C6}" srcOrd="0" destOrd="0" presId="urn:microsoft.com/office/officeart/2005/8/layout/vList2"/>
    <dgm:cxn modelId="{A9E83F33-2B78-3447-9BE8-B0A3656CBDEF}" type="presOf" srcId="{4E833123-60F9-4195-BF86-C458F29D9A2E}" destId="{E5989978-893E-5447-9264-659C7D706D8B}" srcOrd="0" destOrd="0" presId="urn:microsoft.com/office/officeart/2005/8/layout/vList2"/>
    <dgm:cxn modelId="{C0A27C55-3308-7945-8EDE-27CBC3AA30C9}" type="presOf" srcId="{DD16D548-103F-43DC-985A-D1BBEE2F93BF}" destId="{A6EB7E3F-3A83-7149-85A9-B32EEC572F05}" srcOrd="0" destOrd="0" presId="urn:microsoft.com/office/officeart/2005/8/layout/vList2"/>
    <dgm:cxn modelId="{FD4B089C-1653-4C2D-BAC3-8F88869AB683}" srcId="{DD16D548-103F-43DC-985A-D1BBEE2F93BF}" destId="{4E833123-60F9-4195-BF86-C458F29D9A2E}" srcOrd="0" destOrd="0" parTransId="{9C7A499C-7C21-46A0-B495-ABC7189755AB}" sibTransId="{3E60363D-3330-40DE-B773-E42E3012FF2C}"/>
    <dgm:cxn modelId="{612931F7-F0EA-4268-94D0-1C98C85CB56A}" srcId="{DD16D548-103F-43DC-985A-D1BBEE2F93BF}" destId="{5CCAF0DE-2A02-4BE8-B320-5F8F8C79EDAC}" srcOrd="2" destOrd="0" parTransId="{CC3B883E-7393-4DFD-918B-099C6836ED87}" sibTransId="{5DCCEA81-408B-496C-8D93-F2E56D65F93E}"/>
    <dgm:cxn modelId="{58E66EFE-D6CD-3148-B011-7F93190A1B8A}" type="presOf" srcId="{499C6A8B-CA5A-4AE6-92F2-99B5B8A04B28}" destId="{66C07808-8613-3246-BF31-735B3D87A9D2}" srcOrd="0" destOrd="0" presId="urn:microsoft.com/office/officeart/2005/8/layout/vList2"/>
    <dgm:cxn modelId="{3F9060F5-837A-F548-9114-94B42DE56C46}" type="presParOf" srcId="{A6EB7E3F-3A83-7149-85A9-B32EEC572F05}" destId="{E5989978-893E-5447-9264-659C7D706D8B}" srcOrd="0" destOrd="0" presId="urn:microsoft.com/office/officeart/2005/8/layout/vList2"/>
    <dgm:cxn modelId="{A2780182-743C-9D43-8246-89EEEB1C008B}" type="presParOf" srcId="{A6EB7E3F-3A83-7149-85A9-B32EEC572F05}" destId="{A42B1991-9FAA-1446-9B1D-A6C06678BD45}" srcOrd="1" destOrd="0" presId="urn:microsoft.com/office/officeart/2005/8/layout/vList2"/>
    <dgm:cxn modelId="{439CC776-0C74-AE4A-A3AA-132BBCF44000}" type="presParOf" srcId="{A6EB7E3F-3A83-7149-85A9-B32EEC572F05}" destId="{66C07808-8613-3246-BF31-735B3D87A9D2}" srcOrd="2" destOrd="0" presId="urn:microsoft.com/office/officeart/2005/8/layout/vList2"/>
    <dgm:cxn modelId="{833D46E1-6A16-E945-9BE3-5C95C0EA15E6}" type="presParOf" srcId="{A6EB7E3F-3A83-7149-85A9-B32EEC572F05}" destId="{F4AF6FFA-E473-404B-8948-57DDA6361C94}" srcOrd="3" destOrd="0" presId="urn:microsoft.com/office/officeart/2005/8/layout/vList2"/>
    <dgm:cxn modelId="{8B4C96DD-6134-BD4E-AB47-52A5B481F8B5}" type="presParOf" srcId="{A6EB7E3F-3A83-7149-85A9-B32EEC572F05}" destId="{3B55E6A5-1A7A-E44D-B14A-861CE629C2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97601-6C39-4310-804C-0636D1381911}">
      <dsp:nvSpPr>
        <dsp:cNvPr id="0" name=""/>
        <dsp:cNvSpPr/>
      </dsp:nvSpPr>
      <dsp:spPr>
        <a:xfrm>
          <a:off x="0" y="611826"/>
          <a:ext cx="5157787" cy="11295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FF965-37F8-4B25-9057-EA876787BFD4}">
      <dsp:nvSpPr>
        <dsp:cNvPr id="0" name=""/>
        <dsp:cNvSpPr/>
      </dsp:nvSpPr>
      <dsp:spPr>
        <a:xfrm>
          <a:off x="341681" y="865970"/>
          <a:ext cx="621239" cy="6212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714CD-1294-4D8F-88E2-4E13C7E8760B}">
      <dsp:nvSpPr>
        <dsp:cNvPr id="0" name=""/>
        <dsp:cNvSpPr/>
      </dsp:nvSpPr>
      <dsp:spPr>
        <a:xfrm>
          <a:off x="1304603" y="611826"/>
          <a:ext cx="3853183" cy="112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42" tIns="119542" rIns="119542" bIns="11954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</a:t>
          </a:r>
          <a:r>
            <a:rPr lang="en-US" sz="1700" b="1" kern="1200"/>
            <a:t>MinMaxScaler</a:t>
          </a:r>
          <a:r>
            <a:rPr lang="en-US" sz="1700" kern="1200"/>
            <a:t> to scale data between 0 and 1. This is crucial for neural networks to converge faster.</a:t>
          </a:r>
        </a:p>
      </dsp:txBody>
      <dsp:txXfrm>
        <a:off x="1304603" y="611826"/>
        <a:ext cx="3853183" cy="1129526"/>
      </dsp:txXfrm>
    </dsp:sp>
    <dsp:sp modelId="{D875FC3D-C790-43AA-AF2E-E7BB56426E3C}">
      <dsp:nvSpPr>
        <dsp:cNvPr id="0" name=""/>
        <dsp:cNvSpPr/>
      </dsp:nvSpPr>
      <dsp:spPr>
        <a:xfrm>
          <a:off x="0" y="2023735"/>
          <a:ext cx="5157787" cy="11295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DF78F-DA16-4388-BA70-5A6900D014E3}">
      <dsp:nvSpPr>
        <dsp:cNvPr id="0" name=""/>
        <dsp:cNvSpPr/>
      </dsp:nvSpPr>
      <dsp:spPr>
        <a:xfrm>
          <a:off x="341681" y="2277878"/>
          <a:ext cx="621239" cy="6212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558FE-2C54-4202-9C1D-B6D414BB1272}">
      <dsp:nvSpPr>
        <dsp:cNvPr id="0" name=""/>
        <dsp:cNvSpPr/>
      </dsp:nvSpPr>
      <dsp:spPr>
        <a:xfrm>
          <a:off x="1304603" y="2023735"/>
          <a:ext cx="3853183" cy="112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42" tIns="119542" rIns="119542" bIns="11954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fits the scaler </a:t>
          </a:r>
          <a:r>
            <a:rPr lang="en-US" sz="1700" i="1" kern="1200"/>
            <a:t>only</a:t>
          </a:r>
          <a:r>
            <a:rPr lang="en-US" sz="1700" kern="1200"/>
            <a:t> on the training set (first 80%) to prevent "data leakage" (peeking into the future).</a:t>
          </a:r>
        </a:p>
      </dsp:txBody>
      <dsp:txXfrm>
        <a:off x="1304603" y="2023735"/>
        <a:ext cx="3853183" cy="11295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E1D0B-A7BB-D647-A87B-5D9D1400BE70}">
      <dsp:nvSpPr>
        <dsp:cNvPr id="0" name=""/>
        <dsp:cNvSpPr/>
      </dsp:nvSpPr>
      <dsp:spPr>
        <a:xfrm>
          <a:off x="1261" y="393494"/>
          <a:ext cx="4428354" cy="2812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B8905-DE3D-2141-A537-D19347797774}">
      <dsp:nvSpPr>
        <dsp:cNvPr id="0" name=""/>
        <dsp:cNvSpPr/>
      </dsp:nvSpPr>
      <dsp:spPr>
        <a:xfrm>
          <a:off x="493301" y="860931"/>
          <a:ext cx="4428354" cy="28120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Recurrent Models</a:t>
          </a:r>
        </a:p>
      </dsp:txBody>
      <dsp:txXfrm>
        <a:off x="575662" y="943292"/>
        <a:ext cx="4263632" cy="2647282"/>
      </dsp:txXfrm>
    </dsp:sp>
    <dsp:sp modelId="{E2E521B6-28CB-9E4A-99A1-1F7C41E841A5}">
      <dsp:nvSpPr>
        <dsp:cNvPr id="0" name=""/>
        <dsp:cNvSpPr/>
      </dsp:nvSpPr>
      <dsp:spPr>
        <a:xfrm>
          <a:off x="5413694" y="393494"/>
          <a:ext cx="4428354" cy="2812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3D384-201B-5A4D-AA13-C8B68FE9B9D1}">
      <dsp:nvSpPr>
        <dsp:cNvPr id="0" name=""/>
        <dsp:cNvSpPr/>
      </dsp:nvSpPr>
      <dsp:spPr>
        <a:xfrm>
          <a:off x="5905734" y="860931"/>
          <a:ext cx="4428354" cy="28120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Transformers</a:t>
          </a:r>
        </a:p>
      </dsp:txBody>
      <dsp:txXfrm>
        <a:off x="5988095" y="943292"/>
        <a:ext cx="4263632" cy="26472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89978-893E-5447-9264-659C7D706D8B}">
      <dsp:nvSpPr>
        <dsp:cNvPr id="0" name=""/>
        <dsp:cNvSpPr/>
      </dsp:nvSpPr>
      <dsp:spPr>
        <a:xfrm>
          <a:off x="0" y="35008"/>
          <a:ext cx="6949440" cy="1855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RNN :</a:t>
          </a:r>
          <a:r>
            <a:rPr lang="en-US" sz="2600" kern="1200" dirty="0"/>
            <a:t> The simplest form. It suffers from "short-term memory" issues where it forgets data from the beginning of long sequences.</a:t>
          </a:r>
        </a:p>
      </dsp:txBody>
      <dsp:txXfrm>
        <a:off x="90584" y="125592"/>
        <a:ext cx="6768272" cy="1674452"/>
      </dsp:txXfrm>
    </dsp:sp>
    <dsp:sp modelId="{66C07808-8613-3246-BF31-735B3D87A9D2}">
      <dsp:nvSpPr>
        <dsp:cNvPr id="0" name=""/>
        <dsp:cNvSpPr/>
      </dsp:nvSpPr>
      <dsp:spPr>
        <a:xfrm>
          <a:off x="0" y="1965508"/>
          <a:ext cx="6949440" cy="185562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LSTM :</a:t>
          </a:r>
          <a:r>
            <a:rPr lang="en-US" sz="2600" kern="1200"/>
            <a:t> Adds a "forget gate" and a "cell state" to handle long-term dependencies, fixing the RNN's memory loss.</a:t>
          </a:r>
        </a:p>
      </dsp:txBody>
      <dsp:txXfrm>
        <a:off x="90584" y="2056092"/>
        <a:ext cx="6768272" cy="1674452"/>
      </dsp:txXfrm>
    </dsp:sp>
    <dsp:sp modelId="{3B55E6A5-1A7A-E44D-B14A-861CE629C2C6}">
      <dsp:nvSpPr>
        <dsp:cNvPr id="0" name=""/>
        <dsp:cNvSpPr/>
      </dsp:nvSpPr>
      <dsp:spPr>
        <a:xfrm>
          <a:off x="0" y="3896008"/>
          <a:ext cx="6949440" cy="185562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GRU :</a:t>
          </a:r>
          <a:r>
            <a:rPr lang="en-US" sz="2600" kern="1200"/>
            <a:t> A simplified version of LSTM with fewer parameters, often faster to train but equally effective.</a:t>
          </a:r>
        </a:p>
      </dsp:txBody>
      <dsp:txXfrm>
        <a:off x="90584" y="3986592"/>
        <a:ext cx="6768272" cy="1674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E5CE0-A6BE-FD47-AC78-73290E67BA3A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F7D91-F733-EB40-B754-6AAF1D310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0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01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Data Source:</a:t>
            </a:r>
            <a:r>
              <a:rPr lang="en-US" dirty="0"/>
              <a:t> Uses the </a:t>
            </a:r>
            <a:r>
              <a:rPr lang="en-US" dirty="0" err="1"/>
              <a:t>yfinance</a:t>
            </a:r>
            <a:r>
              <a:rPr lang="en-US" dirty="0"/>
              <a:t> library to download daily stock history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79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35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77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05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9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04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05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84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29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42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F7D91-F733-EB40-B754-6AAF1D31093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67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1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3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4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16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6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3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2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6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8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2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2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3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9" r:id="rId6"/>
    <p:sldLayoutId id="2147483694" r:id="rId7"/>
    <p:sldLayoutId id="2147483695" r:id="rId8"/>
    <p:sldLayoutId id="2147483696" r:id="rId9"/>
    <p:sldLayoutId id="2147483698" r:id="rId10"/>
    <p:sldLayoutId id="214748369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1187F7A-920C-B377-65E8-1CF4CBCE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7A663-A32E-5D00-67F8-94FF245DC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490" y="5293849"/>
            <a:ext cx="8454682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Stock Market analysis with DL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9FE5B-38B9-B724-FD35-7CD49148A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0947" y="5293850"/>
            <a:ext cx="2345333" cy="1178688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Roshanak Behrouz</a:t>
            </a:r>
          </a:p>
          <a:p>
            <a:r>
              <a:rPr lang="en-US" dirty="0"/>
              <a:t>2026</a:t>
            </a:r>
          </a:p>
        </p:txBody>
      </p:sp>
      <p:pic>
        <p:nvPicPr>
          <p:cNvPr id="4" name="Picture 3" descr="Digital business graph and charts">
            <a:extLst>
              <a:ext uri="{FF2B5EF4-FFF2-40B4-BE49-F238E27FC236}">
                <a16:creationId xmlns:a16="http://schemas.microsoft.com/office/drawing/2014/main" id="{9A4E5E36-77E2-812E-4FB1-C57FAB1092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4" b="12404"/>
          <a:stretch>
            <a:fillRect/>
          </a:stretch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E278F-6F43-B2BC-D5C6-C6639F0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1A08-57EC-A350-B7CA-BB2506BD2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objective is to predict the </a:t>
            </a:r>
            <a:r>
              <a:rPr lang="en-US" sz="1800" b="1" dirty="0"/>
              <a:t>next day's closing price</a:t>
            </a:r>
            <a:r>
              <a:rPr lang="en-US" sz="1800" dirty="0"/>
              <a:t> of a stock based on a window of previous 60 days.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7BE402E0-655D-4D46-08AF-4197ABD7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35" r="20355" b="-1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5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890D3-5C2D-F0B7-EDF6-1AB2CCFD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3F9073-3600-A449-B63D-D2B4EBA67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595476"/>
              </p:ext>
            </p:extLst>
          </p:nvPr>
        </p:nvGraphicFramePr>
        <p:xfrm>
          <a:off x="1560108" y="2037806"/>
          <a:ext cx="6309923" cy="4066433"/>
        </p:xfrm>
        <a:graphic>
          <a:graphicData uri="http://schemas.openxmlformats.org/drawingml/2006/table">
            <a:tbl>
              <a:tblPr/>
              <a:tblGrid>
                <a:gridCol w="1483338">
                  <a:extLst>
                    <a:ext uri="{9D8B030D-6E8A-4147-A177-3AD203B41FA5}">
                      <a16:colId xmlns:a16="http://schemas.microsoft.com/office/drawing/2014/main" val="1154374635"/>
                    </a:ext>
                  </a:extLst>
                </a:gridCol>
                <a:gridCol w="2075186">
                  <a:extLst>
                    <a:ext uri="{9D8B030D-6E8A-4147-A177-3AD203B41FA5}">
                      <a16:colId xmlns:a16="http://schemas.microsoft.com/office/drawing/2014/main" val="98256208"/>
                    </a:ext>
                  </a:extLst>
                </a:gridCol>
                <a:gridCol w="2751399">
                  <a:extLst>
                    <a:ext uri="{9D8B030D-6E8A-4147-A177-3AD203B41FA5}">
                      <a16:colId xmlns:a16="http://schemas.microsoft.com/office/drawing/2014/main" val="680579973"/>
                    </a:ext>
                  </a:extLst>
                </a:gridCol>
              </a:tblGrid>
              <a:tr h="4654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Ticker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Sector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Market Behavior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549698"/>
                  </a:ext>
                </a:extLst>
              </a:tr>
              <a:tr h="12921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NVDA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 / AI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Hyper-Growth &amp; Momentum.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Explosive trends, huge volatility, "fat tails" (extreme outliers).</a:t>
                      </a: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613680"/>
                  </a:ext>
                </a:extLst>
              </a:tr>
              <a:tr h="12921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KO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Staples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Defensive &amp; Stable.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Low volatility, mean-reverting, slow steady growth.</a:t>
                      </a: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39391"/>
                  </a:ext>
                </a:extLst>
              </a:tr>
              <a:tr h="10166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JPM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Financials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Cyclical &amp; Macro.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Moves with the economy. Highly sensitive to interest rates.</a:t>
                      </a:r>
                    </a:p>
                  </a:txBody>
                  <a:tcPr marL="114828" marR="114828" marT="76552" marB="765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178913"/>
                  </a:ext>
                </a:extLst>
              </a:tr>
            </a:tbl>
          </a:graphicData>
        </a:graphic>
      </p:graphicFrame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9734F562-CB83-63A1-7082-386F5FC5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46" t="6770" r="32010" b="7515"/>
          <a:stretch>
            <a:fillRect/>
          </a:stretch>
        </p:blipFill>
        <p:spPr>
          <a:xfrm>
            <a:off x="9220346" y="2229538"/>
            <a:ext cx="1303276" cy="1240971"/>
          </a:xfrm>
          <a:prstGeom prst="rect">
            <a:avLst/>
          </a:prstGeom>
        </p:spPr>
      </p:pic>
      <p:pic>
        <p:nvPicPr>
          <p:cNvPr id="6" name="Picture 5" descr="A red and black logo&#10;&#10;AI-generated content may be incorrect.">
            <a:extLst>
              <a:ext uri="{FF2B5EF4-FFF2-40B4-BE49-F238E27FC236}">
                <a16:creationId xmlns:a16="http://schemas.microsoft.com/office/drawing/2014/main" id="{5C9F66E1-6F61-BF1A-055B-F09D34A2C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299" y="3809354"/>
            <a:ext cx="2271486" cy="713388"/>
          </a:xfrm>
          <a:prstGeom prst="rect">
            <a:avLst/>
          </a:prstGeom>
        </p:spPr>
      </p:pic>
      <p:pic>
        <p:nvPicPr>
          <p:cNvPr id="7" name="Picture 6" descr="A blue logo with brown text&#10;&#10;AI-generated content may be incorrect.">
            <a:extLst>
              <a:ext uri="{FF2B5EF4-FFF2-40B4-BE49-F238E27FC236}">
                <a16:creationId xmlns:a16="http://schemas.microsoft.com/office/drawing/2014/main" id="{66D937B3-FEF3-474B-55E3-E9F5C7EAF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346" y="4831229"/>
            <a:ext cx="1464129" cy="146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66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F19A-3FBD-47C9-96E8-F370BC529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AF54-BA69-1F8C-84D6-7DF3DC1D6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Source:</a:t>
            </a:r>
            <a:r>
              <a:rPr lang="en-US" altLang="en-US" dirty="0">
                <a:latin typeface="Arial" panose="020B0604020202020204" pitchFamily="34" charset="0"/>
              </a:rPr>
              <a:t> Historical stock market data is downloaded directly using the yfinance API.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Arial" panose="020B0604020202020204" pitchFamily="34" charset="0"/>
              </a:rPr>
              <a:t>Date Range: </a:t>
            </a:r>
            <a:r>
              <a:rPr lang="en-US" dirty="0">
                <a:latin typeface="Arial" panose="020B0604020202020204" pitchFamily="34" charset="0"/>
              </a:rPr>
              <a:t>2015-2024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Raw Features:</a:t>
            </a:r>
            <a:r>
              <a:rPr lang="en-US" altLang="en-US" dirty="0">
                <a:latin typeface="Arial" panose="020B0604020202020204" pitchFamily="34" charset="0"/>
              </a:rPr>
              <a:t>  The initial dataset includes standard market data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Open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High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Low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Close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Volume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8" name="Picture 7" descr="A graph of stock market&#10;&#10;AI-generated content may be incorrect.">
            <a:extLst>
              <a:ext uri="{FF2B5EF4-FFF2-40B4-BE49-F238E27FC236}">
                <a16:creationId xmlns:a16="http://schemas.microsoft.com/office/drawing/2014/main" id="{F8102805-455F-2658-43B0-6D49F2D52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022" y="3124200"/>
            <a:ext cx="4490356" cy="310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CBC72-3BAA-78E6-1893-F7B1579D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614" y="548640"/>
            <a:ext cx="9466530" cy="1132258"/>
          </a:xfrm>
        </p:spPr>
        <p:txBody>
          <a:bodyPr>
            <a:normAutofit/>
          </a:bodyPr>
          <a:lstStyle/>
          <a:p>
            <a:r>
              <a:rPr lang="en-US" dirty="0"/>
              <a:t>Feature Engineering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9B63C2-CF0D-B1DB-EC2E-9C6FD57073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454114"/>
              </p:ext>
            </p:extLst>
          </p:nvPr>
        </p:nvGraphicFramePr>
        <p:xfrm>
          <a:off x="1520692" y="2039112"/>
          <a:ext cx="9150616" cy="4069083"/>
        </p:xfrm>
        <a:graphic>
          <a:graphicData uri="http://schemas.openxmlformats.org/drawingml/2006/table">
            <a:tbl>
              <a:tblPr/>
              <a:tblGrid>
                <a:gridCol w="2148233">
                  <a:extLst>
                    <a:ext uri="{9D8B030D-6E8A-4147-A177-3AD203B41FA5}">
                      <a16:colId xmlns:a16="http://schemas.microsoft.com/office/drawing/2014/main" val="591757201"/>
                    </a:ext>
                  </a:extLst>
                </a:gridCol>
                <a:gridCol w="2747660">
                  <a:extLst>
                    <a:ext uri="{9D8B030D-6E8A-4147-A177-3AD203B41FA5}">
                      <a16:colId xmlns:a16="http://schemas.microsoft.com/office/drawing/2014/main" val="3920961278"/>
                    </a:ext>
                  </a:extLst>
                </a:gridCol>
                <a:gridCol w="4254723">
                  <a:extLst>
                    <a:ext uri="{9D8B030D-6E8A-4147-A177-3AD203B41FA5}">
                      <a16:colId xmlns:a16="http://schemas.microsoft.com/office/drawing/2014/main" val="2427452521"/>
                    </a:ext>
                  </a:extLst>
                </a:gridCol>
              </a:tblGrid>
              <a:tr h="5387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Type</a:t>
                      </a:r>
                      <a:endParaRPr lang="en-US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 in Prediction</a:t>
                      </a:r>
                      <a:endParaRPr lang="en-US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872857"/>
                  </a:ext>
                </a:extLst>
              </a:tr>
              <a:tr h="11767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RSI</a:t>
                      </a:r>
                      <a:endParaRPr lang="en-US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Momentum</a:t>
                      </a: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Detects Reversals:</a:t>
                      </a: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Tells the AI if the stock is "overheated" or "undervalued."</a:t>
                      </a: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67444"/>
                  </a:ext>
                </a:extLst>
              </a:tr>
              <a:tr h="11767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MACD</a:t>
                      </a:r>
                      <a:endParaRPr lang="en-US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Trend</a:t>
                      </a: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Identifies Direction:</a:t>
                      </a: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Helps the AI recognize the start of new trends vs. random noise.</a:t>
                      </a: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821039"/>
                  </a:ext>
                </a:extLst>
              </a:tr>
              <a:tr h="11767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SMA_20</a:t>
                      </a:r>
                      <a:endParaRPr lang="en-US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Smoothing</a:t>
                      </a: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Provides Context:</a:t>
                      </a: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Gives a stable baseline to filter out daily market volatility.</a:t>
                      </a:r>
                    </a:p>
                  </a:txBody>
                  <a:tcPr marL="132919" marR="132919" marT="88612" marB="8861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9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1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2C10-E2C5-0934-2571-0595D19F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Indicators Overview</a:t>
            </a:r>
          </a:p>
        </p:txBody>
      </p:sp>
      <p:pic>
        <p:nvPicPr>
          <p:cNvPr id="5" name="Content Placeholder 4" descr="A graph of a price&#10;&#10;AI-generated content may be incorrect.">
            <a:extLst>
              <a:ext uri="{FF2B5EF4-FFF2-40B4-BE49-F238E27FC236}">
                <a16:creationId xmlns:a16="http://schemas.microsoft.com/office/drawing/2014/main" id="{80692E94-F243-13B2-4A12-CD23B878B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3697"/>
          <a:stretch>
            <a:fillRect/>
          </a:stretch>
        </p:blipFill>
        <p:spPr>
          <a:xfrm>
            <a:off x="612649" y="1781404"/>
            <a:ext cx="3753068" cy="4637314"/>
          </a:xfrm>
        </p:spPr>
      </p:pic>
      <p:pic>
        <p:nvPicPr>
          <p:cNvPr id="7" name="Picture 6" descr="A graph of stock market&#10;&#10;AI-generated content may be incorrect.">
            <a:extLst>
              <a:ext uri="{FF2B5EF4-FFF2-40B4-BE49-F238E27FC236}">
                <a16:creationId xmlns:a16="http://schemas.microsoft.com/office/drawing/2014/main" id="{957AF093-E046-406D-1018-D42ABA713D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20"/>
          <a:stretch>
            <a:fillRect/>
          </a:stretch>
        </p:blipFill>
        <p:spPr>
          <a:xfrm>
            <a:off x="4256859" y="1870416"/>
            <a:ext cx="3896541" cy="4548302"/>
          </a:xfrm>
          <a:prstGeom prst="rect">
            <a:avLst/>
          </a:prstGeom>
        </p:spPr>
      </p:pic>
      <p:pic>
        <p:nvPicPr>
          <p:cNvPr id="9" name="Picture 8" descr="A graph of stock prices&#10;&#10;AI-generated content may be incorrect.">
            <a:extLst>
              <a:ext uri="{FF2B5EF4-FFF2-40B4-BE49-F238E27FC236}">
                <a16:creationId xmlns:a16="http://schemas.microsoft.com/office/drawing/2014/main" id="{9AD35DA4-355D-0140-5830-3E3EA0DEC7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767"/>
          <a:stretch>
            <a:fillRect/>
          </a:stretch>
        </p:blipFill>
        <p:spPr>
          <a:xfrm>
            <a:off x="8148938" y="1870416"/>
            <a:ext cx="3896541" cy="454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70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8D9332-7126-99CB-7661-6AC2DD8B1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887245"/>
            <a:ext cx="5157787" cy="559834"/>
          </a:xfrm>
        </p:spPr>
        <p:txBody>
          <a:bodyPr/>
          <a:lstStyle/>
          <a:p>
            <a:r>
              <a:rPr lang="en-US" dirty="0"/>
              <a:t>Normalization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69524D2-8208-6FC2-FAEA-449BEFB50A8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09600" y="2386894"/>
          <a:ext cx="5157787" cy="3765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FE353A-C3F6-8028-E661-0648340D0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8110" y="990276"/>
            <a:ext cx="5183188" cy="559834"/>
          </a:xfrm>
        </p:spPr>
        <p:txBody>
          <a:bodyPr/>
          <a:lstStyle/>
          <a:p>
            <a:r>
              <a:rPr lang="en-US" dirty="0"/>
              <a:t>Sliding Window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4707297-C008-00DF-8654-B6B9E86EB3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/>
              <a:t>Input (X):</a:t>
            </a:r>
            <a:r>
              <a:rPr lang="en-US" dirty="0"/>
              <a:t> A sequence of 60 days of features (Open, High, Low, Close, Volume, RSI, MACD, SMA).</a:t>
            </a:r>
          </a:p>
          <a:p>
            <a:r>
              <a:rPr lang="en-US" b="1" dirty="0"/>
              <a:t>Target (y):</a:t>
            </a:r>
            <a:r>
              <a:rPr lang="en-US" dirty="0"/>
              <a:t> The </a:t>
            </a:r>
            <a:r>
              <a:rPr lang="en-US" i="1" dirty="0"/>
              <a:t>Close</a:t>
            </a:r>
            <a:r>
              <a:rPr lang="en-US" dirty="0"/>
              <a:t> price of the 61st day.</a:t>
            </a:r>
          </a:p>
        </p:txBody>
      </p:sp>
    </p:spTree>
    <p:extLst>
      <p:ext uri="{BB962C8B-B14F-4D97-AF65-F5344CB8AC3E}">
        <p14:creationId xmlns:p14="http://schemas.microsoft.com/office/powerpoint/2010/main" val="55806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2C644-78DA-3BE7-5C47-65A1BCCD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The models</a:t>
            </a:r>
            <a:endParaRPr lang="en-US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B80A6665-0477-03CE-15F9-A503F39508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88675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28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6F0B1-DD33-A9C7-FAA1-B47C3B90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The Recurrent Baselines</a:t>
            </a:r>
            <a:br>
              <a:rPr lang="en-US" sz="4000"/>
            </a:b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D98F0C-0D6D-669E-9F44-E894299A02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75155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897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975F-9FC7-8688-441B-D1775DD0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RNN (Simple Recurrent Network)</a:t>
            </a:r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D9FFABFE-443E-DD6E-534F-F3BD9EB83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88237" y="1612900"/>
            <a:ext cx="6502400" cy="3632200"/>
          </a:xfrm>
        </p:spPr>
      </p:pic>
    </p:spTree>
    <p:extLst>
      <p:ext uri="{BB962C8B-B14F-4D97-AF65-F5344CB8AC3E}">
        <p14:creationId xmlns:p14="http://schemas.microsoft.com/office/powerpoint/2010/main" val="363825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78FA-46E2-4FF5-2EB6-00029C28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LSTM (Long Short-Term Memory)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CCA2218A-90E0-B254-EC60-1ADD23BA0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82302" y="1578429"/>
            <a:ext cx="7608529" cy="4250077"/>
          </a:xfrm>
        </p:spPr>
      </p:pic>
    </p:spTree>
    <p:extLst>
      <p:ext uri="{BB962C8B-B14F-4D97-AF65-F5344CB8AC3E}">
        <p14:creationId xmlns:p14="http://schemas.microsoft.com/office/powerpoint/2010/main" val="3897491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2C30-6C87-577B-6A6F-7F8DC0C9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LSTM (Long Short-Term Memory)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D5D458F-B9F2-1174-56DC-BDBBCC59A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581" y="2094706"/>
            <a:ext cx="10198100" cy="3835400"/>
          </a:xfrm>
        </p:spPr>
      </p:pic>
    </p:spTree>
    <p:extLst>
      <p:ext uri="{BB962C8B-B14F-4D97-AF65-F5344CB8AC3E}">
        <p14:creationId xmlns:p14="http://schemas.microsoft.com/office/powerpoint/2010/main" val="306531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447E-0C43-1E71-1438-4A54B2D9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GRU (Gated Recurrent Unit)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5CE29974-B7E5-27D5-4C4A-4CED6183A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3607" y="1866862"/>
            <a:ext cx="7111660" cy="3972529"/>
          </a:xfrm>
        </p:spPr>
      </p:pic>
    </p:spTree>
    <p:extLst>
      <p:ext uri="{BB962C8B-B14F-4D97-AF65-F5344CB8AC3E}">
        <p14:creationId xmlns:p14="http://schemas.microsoft.com/office/powerpoint/2010/main" val="838937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3DE3-98A0-417A-EB98-31B8D0D4F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</a:t>
            </a:r>
          </a:p>
        </p:txBody>
      </p:sp>
      <p:pic>
        <p:nvPicPr>
          <p:cNvPr id="5" name="Content Placeholder 4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B3BD2281-4AB2-81DD-33AF-E99F3BEBB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3456" y="1680898"/>
            <a:ext cx="7425088" cy="4147608"/>
          </a:xfrm>
        </p:spPr>
      </p:pic>
    </p:spTree>
    <p:extLst>
      <p:ext uri="{BB962C8B-B14F-4D97-AF65-F5344CB8AC3E}">
        <p14:creationId xmlns:p14="http://schemas.microsoft.com/office/powerpoint/2010/main" val="2274133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E7A-F489-6DBC-799E-AA3A9556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E3B92-2758-AF24-F4F9-595DCA2D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b="1" dirty="0"/>
              <a:t>Input</a:t>
            </a:r>
            <a:r>
              <a:rPr lang="en-US" dirty="0"/>
              <a:t> (60 days, 8 raw features)] ⬇ </a:t>
            </a:r>
          </a:p>
          <a:p>
            <a:r>
              <a:rPr lang="en-US" dirty="0"/>
              <a:t>[</a:t>
            </a:r>
            <a:r>
              <a:rPr lang="en-US" b="1" dirty="0"/>
              <a:t>Linear</a:t>
            </a:r>
            <a:r>
              <a:rPr lang="en-US" dirty="0"/>
              <a:t> (Expands to 64 features)] ⬇ </a:t>
            </a:r>
          </a:p>
          <a:p>
            <a:r>
              <a:rPr lang="en-US" dirty="0"/>
              <a:t>[</a:t>
            </a:r>
            <a:r>
              <a:rPr lang="en-US" b="1" dirty="0"/>
              <a:t>Positional Encoding</a:t>
            </a:r>
            <a:r>
              <a:rPr lang="en-US" dirty="0"/>
              <a:t> (Adds Time info)] ⬇ </a:t>
            </a:r>
          </a:p>
          <a:p>
            <a:r>
              <a:rPr lang="en-US" dirty="0"/>
              <a:t>[</a:t>
            </a:r>
            <a:r>
              <a:rPr lang="en-US" b="1" dirty="0"/>
              <a:t>Transformer Block</a:t>
            </a:r>
            <a:r>
              <a:rPr lang="en-US" dirty="0"/>
              <a:t> (Self-Attention mixes history into Day 60)] ⬇ </a:t>
            </a:r>
          </a:p>
          <a:p>
            <a:r>
              <a:rPr lang="en-US" dirty="0"/>
              <a:t>[</a:t>
            </a:r>
            <a:r>
              <a:rPr lang="en-US" b="1" dirty="0"/>
              <a:t>Slice</a:t>
            </a:r>
            <a:r>
              <a:rPr lang="en-US" dirty="0"/>
              <a:t> (Throw away Days 0-58, Keep Day 60)] ⬇ </a:t>
            </a:r>
          </a:p>
          <a:p>
            <a:r>
              <a:rPr lang="en-US" dirty="0"/>
              <a:t>[</a:t>
            </a:r>
            <a:r>
              <a:rPr lang="en-US" b="1" dirty="0"/>
              <a:t>Decoder</a:t>
            </a:r>
            <a:r>
              <a:rPr lang="en-US" dirty="0"/>
              <a:t> (Linear map 64 features to 1 Price)] ⬇ </a:t>
            </a:r>
          </a:p>
          <a:p>
            <a:r>
              <a:rPr lang="en-US" dirty="0"/>
              <a:t>[</a:t>
            </a:r>
            <a:r>
              <a:rPr lang="en-US" b="1" dirty="0"/>
              <a:t>Output</a:t>
            </a:r>
            <a:r>
              <a:rPr lang="en-US" dirty="0"/>
              <a:t> (Price Prediction)] </a:t>
            </a:r>
          </a:p>
        </p:txBody>
      </p:sp>
    </p:spTree>
    <p:extLst>
      <p:ext uri="{BB962C8B-B14F-4D97-AF65-F5344CB8AC3E}">
        <p14:creationId xmlns:p14="http://schemas.microsoft.com/office/powerpoint/2010/main" val="1137505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F956-5DF2-F798-C306-B6181BE5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8D2E-8E45-7EBD-8FB4-972C619FA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Linear Layer </a:t>
            </a:r>
            <a:r>
              <a:rPr lang="en-US" b="1" dirty="0"/>
              <a:t>mixes</a:t>
            </a:r>
            <a:r>
              <a:rPr lang="en-US" dirty="0"/>
              <a:t> the 8 raw features to create 64 new, smarter features. It uses a mathematical weighted sum.</a:t>
            </a:r>
          </a:p>
          <a:p>
            <a:r>
              <a:rPr lang="en-US" dirty="0"/>
              <a:t>By expanding from 8 to 64:</a:t>
            </a:r>
          </a:p>
          <a:p>
            <a:r>
              <a:rPr lang="en-US" b="1" dirty="0"/>
              <a:t>Input:</a:t>
            </a:r>
            <a:r>
              <a:rPr lang="en-US" dirty="0"/>
              <a:t> You give the model 8 raw facts.</a:t>
            </a:r>
          </a:p>
          <a:p>
            <a:r>
              <a:rPr lang="en-US" b="1" dirty="0"/>
              <a:t>Linear Layer:</a:t>
            </a:r>
            <a:r>
              <a:rPr lang="en-US" dirty="0"/>
              <a:t> The model mathematically combines those facts to create 64 </a:t>
            </a:r>
            <a:r>
              <a:rPr lang="en-US" b="1" dirty="0"/>
              <a:t>derived insights</a:t>
            </a:r>
            <a:r>
              <a:rPr lang="en-US" dirty="0"/>
              <a:t> (abstract features).</a:t>
            </a:r>
          </a:p>
          <a:p>
            <a:r>
              <a:rPr lang="en-US" b="1" dirty="0"/>
              <a:t>Result:</a:t>
            </a:r>
            <a:r>
              <a:rPr lang="en-US" dirty="0"/>
              <a:t> The Transformer now processes these 64 rich insights instead of just the 8 raw numbers, allowing it to "think" much deeper about the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539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D6E8-051A-0BF5-A3A5-C9256519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50AF-EF83-CF54-2746-0AB891172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Transformers process all 60 days </a:t>
            </a:r>
            <a:r>
              <a:rPr lang="en-US" b="1" dirty="0"/>
              <a:t>simultaneously</a:t>
            </a:r>
            <a:r>
              <a:rPr lang="en-US" dirty="0"/>
              <a:t> to be faster.</a:t>
            </a:r>
          </a:p>
          <a:p>
            <a:r>
              <a:rPr lang="en-US" dirty="0"/>
              <a:t>Without Positional Encoding, the model has no way of knowing that a "Price Crash" happened </a:t>
            </a:r>
            <a:r>
              <a:rPr lang="en-US" i="1" dirty="0"/>
              <a:t>yesterday</a:t>
            </a:r>
            <a:r>
              <a:rPr lang="en-US" dirty="0"/>
              <a:t> versus </a:t>
            </a:r>
            <a:r>
              <a:rPr lang="en-US" i="1" dirty="0"/>
              <a:t>a month ago</a:t>
            </a:r>
            <a:r>
              <a:rPr lang="en-US" dirty="0"/>
              <a:t>.</a:t>
            </a:r>
          </a:p>
          <a:p>
            <a:r>
              <a:rPr lang="en-US" dirty="0"/>
              <a:t>We need to attach a unique "Timestamp" to every single day's vector so the model can distinguish them.</a:t>
            </a:r>
          </a:p>
          <a:p>
            <a:r>
              <a:rPr lang="en-US" dirty="0"/>
              <a:t>For long sequences, the numbers get huge (e.g., Day 5000). Neural networks struggle with large, unbounded numbers (exploding gradients).</a:t>
            </a:r>
          </a:p>
          <a:p>
            <a:r>
              <a:rPr lang="en-US" dirty="0"/>
              <a:t>The "distance" between Day 1 and Day 2 changes depending on the total length. If you have 10 days, the step is 0.1. If you have 100 days, the step is 0.01. The model can't learn a consistent rule for "tomorrow."</a:t>
            </a:r>
          </a:p>
        </p:txBody>
      </p:sp>
    </p:spTree>
    <p:extLst>
      <p:ext uri="{BB962C8B-B14F-4D97-AF65-F5344CB8AC3E}">
        <p14:creationId xmlns:p14="http://schemas.microsoft.com/office/powerpoint/2010/main" val="2309206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6343-24C6-A56B-9B59-A4DF4DA5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Multihead 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31A5-FBAF-410D-BDB7-2EE86E9D6F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Split:</a:t>
            </a:r>
            <a:r>
              <a:rPr lang="en-US" dirty="0"/>
              <a:t> The 64 features are split into 4 heads of 16 features each.</a:t>
            </a:r>
          </a:p>
          <a:p>
            <a:r>
              <a:rPr lang="en-US" b="1" dirty="0"/>
              <a:t>Q, K, V Generation:</a:t>
            </a:r>
            <a:r>
              <a:rPr lang="en-US" dirty="0"/>
              <a:t> For each head, the data is multiplied by weights to create Query, Key, and Value matrices.</a:t>
            </a:r>
          </a:p>
          <a:p>
            <a:r>
              <a:rPr lang="en-US" b="1" dirty="0"/>
              <a:t>Attention Score (The Matrix):</a:t>
            </a:r>
            <a:endParaRPr lang="en-US" dirty="0"/>
          </a:p>
          <a:p>
            <a:r>
              <a:rPr lang="en-US" dirty="0"/>
              <a:t>The model calculates a [60, 60] grid for every example.</a:t>
            </a:r>
          </a:p>
          <a:p>
            <a:r>
              <a:rPr lang="en-US" dirty="0"/>
              <a:t>This grid represents relationships. Row 60, Column 30 tells us: </a:t>
            </a:r>
            <a:r>
              <a:rPr lang="en-US" i="1" dirty="0"/>
              <a:t>"How much should Day 60 focus on Day 30?"</a:t>
            </a:r>
            <a:endParaRPr lang="en-US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41BB9C-5914-088A-CBE1-455F339688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Weighted Sum:</a:t>
            </a:r>
            <a:endParaRPr lang="en-US" dirty="0"/>
          </a:p>
          <a:p>
            <a:r>
              <a:rPr lang="en-US" dirty="0"/>
              <a:t>If Day 60 has a high score for Day 30, it adds a large chunk of Day 30's </a:t>
            </a:r>
            <a:r>
              <a:rPr lang="en-US" b="1" dirty="0"/>
              <a:t>Value</a:t>
            </a:r>
            <a:r>
              <a:rPr lang="en-US" dirty="0"/>
              <a:t> vector to Day 60's current vector.</a:t>
            </a:r>
          </a:p>
          <a:p>
            <a:r>
              <a:rPr lang="en-US" b="1" dirty="0"/>
              <a:t>Concatenation:</a:t>
            </a:r>
            <a:r>
              <a:rPr lang="en-US" dirty="0"/>
              <a:t> The 4 heads (16 features each) are glued back together to form 64 features.</a:t>
            </a:r>
          </a:p>
        </p:txBody>
      </p:sp>
    </p:spTree>
    <p:extLst>
      <p:ext uri="{BB962C8B-B14F-4D97-AF65-F5344CB8AC3E}">
        <p14:creationId xmlns:p14="http://schemas.microsoft.com/office/powerpoint/2010/main" val="1276822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7BA2F2-B32D-083B-A69A-4A6E88CD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Q-K-V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3C581-CA79-0C4C-FC88-CCBC738B0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756856"/>
            <a:ext cx="5157787" cy="3765089"/>
          </a:xfrm>
        </p:spPr>
        <p:txBody>
          <a:bodyPr>
            <a:normAutofit/>
          </a:bodyPr>
          <a:lstStyle/>
          <a:p>
            <a:r>
              <a:rPr lang="en-US" b="1" dirty="0"/>
              <a:t>Query (Q), Key (K), and Value (V)</a:t>
            </a:r>
            <a:r>
              <a:rPr lang="en-US" dirty="0"/>
              <a:t> are three distinct representations of stock data created by the Transformer to understand relationships between days.</a:t>
            </a:r>
          </a:p>
          <a:p>
            <a:r>
              <a:rPr lang="en-US" dirty="0"/>
              <a:t>Even though they all come from the same input (your 60-day window of Inputs), the model mathematically transforms them to play three different "roles" in the attention mechanism.</a:t>
            </a:r>
          </a:p>
          <a:p>
            <a:endParaRPr lang="en-US" dirty="0"/>
          </a:p>
        </p:txBody>
      </p:sp>
      <p:pic>
        <p:nvPicPr>
          <p:cNvPr id="9" name="Content Placeholder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AE68ECA-169F-59A0-E598-0DFCF7C38E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24615" y="1756856"/>
            <a:ext cx="4739914" cy="4394708"/>
          </a:xfrm>
        </p:spPr>
      </p:pic>
    </p:spTree>
    <p:extLst>
      <p:ext uri="{BB962C8B-B14F-4D97-AF65-F5344CB8AC3E}">
        <p14:creationId xmlns:p14="http://schemas.microsoft.com/office/powerpoint/2010/main" val="2349876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77E480-B984-2607-A36D-D99054ABF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 descr="A close up of text&#10;&#10;AI-generated content may be incorrect.">
            <a:extLst>
              <a:ext uri="{FF2B5EF4-FFF2-40B4-BE49-F238E27FC236}">
                <a16:creationId xmlns:a16="http://schemas.microsoft.com/office/drawing/2014/main" id="{39A0BD89-8479-F545-176A-47065B9EC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" y="1905000"/>
            <a:ext cx="8572500" cy="15240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BBB6D2-9D2A-E04F-47BF-EFF57B1C80D6}"/>
              </a:ext>
            </a:extLst>
          </p:cNvPr>
          <p:cNvSpPr txBox="1"/>
          <p:nvPr/>
        </p:nvSpPr>
        <p:spPr>
          <a:xfrm>
            <a:off x="1138989" y="3721768"/>
            <a:ext cx="4000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They Learn (Backpropagation)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1E94F0-ADB5-3C28-F0E0-9A9EB9C8C4DA}"/>
              </a:ext>
            </a:extLst>
          </p:cNvPr>
          <p:cNvSpPr txBox="1"/>
          <p:nvPr/>
        </p:nvSpPr>
        <p:spPr>
          <a:xfrm>
            <a:off x="1268361" y="4468761"/>
            <a:ext cx="4991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initialized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random garbage numbers</a:t>
            </a:r>
          </a:p>
        </p:txBody>
      </p:sp>
    </p:spTree>
    <p:extLst>
      <p:ext uri="{BB962C8B-B14F-4D97-AF65-F5344CB8AC3E}">
        <p14:creationId xmlns:p14="http://schemas.microsoft.com/office/powerpoint/2010/main" val="1780885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CBD5-0869-F60D-03D4-66B7EB35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Loop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01A3-F85E-6080-FACD-B580F7BAA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script creates a dictionary models containing one instance of each architecture. It then iterates through them in a loop:</a:t>
            </a:r>
          </a:p>
          <a:p>
            <a:r>
              <a:rPr lang="en-US" b="1" dirty="0"/>
              <a:t>Forward Pass:</a:t>
            </a:r>
            <a:r>
              <a:rPr lang="en-US" dirty="0"/>
              <a:t> The model predicts prices based on the input batch.</a:t>
            </a:r>
          </a:p>
          <a:p>
            <a:r>
              <a:rPr lang="en-US" b="1" dirty="0"/>
              <a:t>Loss Calculation:</a:t>
            </a:r>
            <a:r>
              <a:rPr lang="en-US" dirty="0"/>
              <a:t> It compares the prediction to the real price using </a:t>
            </a:r>
            <a:r>
              <a:rPr lang="en-US" b="1" dirty="0"/>
              <a:t>MSE (Mean Squared Error)</a:t>
            </a:r>
            <a:r>
              <a:rPr lang="en-US" dirty="0"/>
              <a:t>.</a:t>
            </a:r>
          </a:p>
          <a:p>
            <a:r>
              <a:rPr lang="en-US" b="1" dirty="0"/>
              <a:t>Backpropagation:</a:t>
            </a:r>
            <a:r>
              <a:rPr lang="en-US" dirty="0"/>
              <a:t> It calculates gradients and updates the model weights to minimize the error.</a:t>
            </a:r>
          </a:p>
          <a:p>
            <a:r>
              <a:rPr lang="en-US" b="1" dirty="0"/>
              <a:t>Tracking:</a:t>
            </a:r>
            <a:r>
              <a:rPr lang="en-US" dirty="0"/>
              <a:t> It records the loss history to compare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238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4773-CBF4-324D-459A-27881B31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14D33-9FBC-5A1F-6283-A73E4A7F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Takeaway:</a:t>
            </a:r>
            <a:r>
              <a:rPr lang="en-US" dirty="0"/>
              <a:t> There is no "one size fits all" model.</a:t>
            </a:r>
          </a:p>
          <a:p>
            <a:r>
              <a:rPr lang="en-US" b="1" dirty="0"/>
              <a:t>Transformers</a:t>
            </a:r>
            <a:r>
              <a:rPr lang="en-US" dirty="0"/>
              <a:t> often win on complex patterns but require more data and are prone to overfitting.</a:t>
            </a:r>
          </a:p>
          <a:p>
            <a:r>
              <a:rPr lang="en-US" b="1" dirty="0"/>
              <a:t>GRUs</a:t>
            </a:r>
            <a:r>
              <a:rPr lang="en-US" dirty="0"/>
              <a:t> are excellent for smaller datasets or less complex patterns because they have fewer gates (parameters) than LSTMs.</a:t>
            </a:r>
          </a:p>
          <a:p>
            <a:r>
              <a:rPr lang="en-US" b="1" dirty="0"/>
              <a:t>LSTMs</a:t>
            </a:r>
            <a:r>
              <a:rPr lang="en-US" dirty="0"/>
              <a:t> generally perform well but lagged slightly behind GRU in this specific experiment.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18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7BED-AF93-0C85-B2C6-B3AE5B7B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FCC532-3BE7-A824-38DE-EC1D02C8F7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45849"/>
              </p:ext>
            </p:extLst>
          </p:nvPr>
        </p:nvGraphicFramePr>
        <p:xfrm>
          <a:off x="2264594" y="1429028"/>
          <a:ext cx="710247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618">
                  <a:extLst>
                    <a:ext uri="{9D8B030D-6E8A-4147-A177-3AD203B41FA5}">
                      <a16:colId xmlns:a16="http://schemas.microsoft.com/office/drawing/2014/main" val="2233882467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3962120372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3423115021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2692483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b="1" dirty="0">
                          <a:effectLst/>
                        </a:rPr>
                        <a:t>Ticker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b="1" dirty="0">
                          <a:effectLst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b="1" dirty="0">
                          <a:effectLst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MAE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11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JPM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1.977350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1.454659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87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JPM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2.214401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1.695726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538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JPM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2.444722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1.886917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0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JPM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2.896708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2.261623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99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0.528123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0.407034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12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0.543257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0.421012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058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0.580345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0.443668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862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0.603500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0.470974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61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NVDA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3.689560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3.062855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672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NVDA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4.247264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3.489799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54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NVDA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4.382634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3.612529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04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NVDA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4.805298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4.077263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92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375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3D8D-39A3-079B-0797-DD0DAB10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RMSE on NVDA</a:t>
            </a:r>
          </a:p>
        </p:txBody>
      </p:sp>
      <p:pic>
        <p:nvPicPr>
          <p:cNvPr id="5" name="Content Placeholder 4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448A30F7-32A2-271D-CF1E-699A7ED1F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3838" y="1523583"/>
            <a:ext cx="6522407" cy="4592637"/>
          </a:xfrm>
        </p:spPr>
      </p:pic>
    </p:spTree>
    <p:extLst>
      <p:ext uri="{BB962C8B-B14F-4D97-AF65-F5344CB8AC3E}">
        <p14:creationId xmlns:p14="http://schemas.microsoft.com/office/powerpoint/2010/main" val="2537606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0330-111E-49F5-A1DC-328BE6A4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Forecasts vs </a:t>
            </a:r>
            <a:r>
              <a:rPr lang="en-US"/>
              <a:t>Actuals on NVDA</a:t>
            </a:r>
            <a:endParaRPr lang="en-US" dirty="0"/>
          </a:p>
        </p:txBody>
      </p:sp>
      <p:pic>
        <p:nvPicPr>
          <p:cNvPr id="5" name="Content Placeholder 4" descr="A graph showing the difference between a model and a model&#10;&#10;AI-generated content may be incorrect.">
            <a:extLst>
              <a:ext uri="{FF2B5EF4-FFF2-40B4-BE49-F238E27FC236}">
                <a16:creationId xmlns:a16="http://schemas.microsoft.com/office/drawing/2014/main" id="{371D63AB-0817-1E6C-89BA-4EDEB9D9D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369" y="1716088"/>
            <a:ext cx="9104524" cy="4592637"/>
          </a:xfrm>
        </p:spPr>
      </p:pic>
    </p:spTree>
    <p:extLst>
      <p:ext uri="{BB962C8B-B14F-4D97-AF65-F5344CB8AC3E}">
        <p14:creationId xmlns:p14="http://schemas.microsoft.com/office/powerpoint/2010/main" val="3943609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ADAF-35EF-7523-3440-59F8EBD6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RMSE on KO</a:t>
            </a:r>
          </a:p>
        </p:txBody>
      </p:sp>
      <p:pic>
        <p:nvPicPr>
          <p:cNvPr id="5" name="Content Placeholder 4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27D8C95E-99FA-B085-3874-3DF7A54BA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133" y="1716088"/>
            <a:ext cx="6640996" cy="4592637"/>
          </a:xfrm>
        </p:spPr>
      </p:pic>
    </p:spTree>
    <p:extLst>
      <p:ext uri="{BB962C8B-B14F-4D97-AF65-F5344CB8AC3E}">
        <p14:creationId xmlns:p14="http://schemas.microsoft.com/office/powerpoint/2010/main" val="492958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2811-1592-A228-774B-1A932E814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Forecasts vs Actuals on KO</a:t>
            </a:r>
          </a:p>
        </p:txBody>
      </p:sp>
      <p:pic>
        <p:nvPicPr>
          <p:cNvPr id="5" name="Content Placeholder 4" descr="A graph showing the price of a stock market&#10;&#10;AI-generated content may be incorrect.">
            <a:extLst>
              <a:ext uri="{FF2B5EF4-FFF2-40B4-BE49-F238E27FC236}">
                <a16:creationId xmlns:a16="http://schemas.microsoft.com/office/drawing/2014/main" id="{2697F3A6-80A5-04E6-DC12-A91E6AD95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885" y="1716088"/>
            <a:ext cx="8993493" cy="4592637"/>
          </a:xfrm>
        </p:spPr>
      </p:pic>
    </p:spTree>
    <p:extLst>
      <p:ext uri="{BB962C8B-B14F-4D97-AF65-F5344CB8AC3E}">
        <p14:creationId xmlns:p14="http://schemas.microsoft.com/office/powerpoint/2010/main" val="1523465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7615-AB01-6FE4-1A1C-01747C95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RMSE on JPM</a:t>
            </a:r>
          </a:p>
        </p:txBody>
      </p:sp>
      <p:pic>
        <p:nvPicPr>
          <p:cNvPr id="5" name="Content Placeholder 4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F3CF681B-DD8B-1AE2-087B-480B09428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133" y="1716088"/>
            <a:ext cx="6640996" cy="4592637"/>
          </a:xfrm>
        </p:spPr>
      </p:pic>
    </p:spTree>
    <p:extLst>
      <p:ext uri="{BB962C8B-B14F-4D97-AF65-F5344CB8AC3E}">
        <p14:creationId xmlns:p14="http://schemas.microsoft.com/office/powerpoint/2010/main" val="2722168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393F-2A53-B646-BD07-5B17305B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Forecasts vs Actuals on JPM</a:t>
            </a:r>
          </a:p>
        </p:txBody>
      </p:sp>
      <p:pic>
        <p:nvPicPr>
          <p:cNvPr id="5" name="Content Placeholder 4" descr="A graph showing the price of a stock market&#10;&#10;AI-generated content may be incorrect.">
            <a:extLst>
              <a:ext uri="{FF2B5EF4-FFF2-40B4-BE49-F238E27FC236}">
                <a16:creationId xmlns:a16="http://schemas.microsoft.com/office/drawing/2014/main" id="{678EE5A6-E14C-F758-D0FC-306FFC06B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557" y="1716088"/>
            <a:ext cx="9064149" cy="4592637"/>
          </a:xfrm>
        </p:spPr>
      </p:pic>
    </p:spTree>
    <p:extLst>
      <p:ext uri="{BB962C8B-B14F-4D97-AF65-F5344CB8AC3E}">
        <p14:creationId xmlns:p14="http://schemas.microsoft.com/office/powerpoint/2010/main" val="2150624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745A763B-8063-1123-4451-CD8E52904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35FA9-C9A0-F501-2DCC-2AF059F1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255830"/>
            <a:ext cx="8138160" cy="10619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053293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5099</TotalTime>
  <Words>1162</Words>
  <Application>Microsoft Macintosh PowerPoint</Application>
  <PresentationFormat>Widescreen</PresentationFormat>
  <Paragraphs>179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Google Sans Text</vt:lpstr>
      <vt:lpstr>Neue Haas Grotesk Text Pro</vt:lpstr>
      <vt:lpstr>Wingdings</vt:lpstr>
      <vt:lpstr>VanillaVTI</vt:lpstr>
      <vt:lpstr>Stock Market analysis with DL</vt:lpstr>
      <vt:lpstr>Project Goal</vt:lpstr>
      <vt:lpstr>Dataset</vt:lpstr>
      <vt:lpstr>Data Acquisition</vt:lpstr>
      <vt:lpstr>Feature Engineering :</vt:lpstr>
      <vt:lpstr>Technical Indicators Overview</vt:lpstr>
      <vt:lpstr>PowerPoint Presentation</vt:lpstr>
      <vt:lpstr>The models</vt:lpstr>
      <vt:lpstr>The Recurrent Baselines </vt:lpstr>
      <vt:lpstr>The RNN (Simple Recurrent Network)</vt:lpstr>
      <vt:lpstr>The LSTM (Long Short-Term Memory)</vt:lpstr>
      <vt:lpstr>The LSTM (Long Short-Term Memory)</vt:lpstr>
      <vt:lpstr>The GRU (Gated Recurrent Unit)</vt:lpstr>
      <vt:lpstr>The Transformer</vt:lpstr>
      <vt:lpstr>Order</vt:lpstr>
      <vt:lpstr>Feature Embedding</vt:lpstr>
      <vt:lpstr>Positional Encoding</vt:lpstr>
      <vt:lpstr>Multihead attention</vt:lpstr>
      <vt:lpstr>Q-K-V</vt:lpstr>
      <vt:lpstr>PowerPoint Presentation</vt:lpstr>
      <vt:lpstr>Training Loop </vt:lpstr>
      <vt:lpstr>Results</vt:lpstr>
      <vt:lpstr>Final Results</vt:lpstr>
      <vt:lpstr>RMSE on NVDA</vt:lpstr>
      <vt:lpstr>Model Forecasts vs Actuals on NVDA</vt:lpstr>
      <vt:lpstr>RMSE on KO</vt:lpstr>
      <vt:lpstr>Model Forecasts vs Actuals on KO</vt:lpstr>
      <vt:lpstr>RMSE on JPM</vt:lpstr>
      <vt:lpstr>Model Forecasts vs Actuals on JPM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Roshanak Behrouz</dc:creator>
  <cp:lastModifiedBy>Roshanak Behrouz</cp:lastModifiedBy>
  <cp:revision>12</cp:revision>
  <dcterms:created xsi:type="dcterms:W3CDTF">2025-11-19T14:40:29Z</dcterms:created>
  <dcterms:modified xsi:type="dcterms:W3CDTF">2026-01-22T09:22:50Z</dcterms:modified>
</cp:coreProperties>
</file>